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31C"/>
                </a:solidFill>
                <a:latin typeface="Calibri"/>
              </a:defRPr>
            </a:pPr>
            <a:r>
              <a:rPr sz="1200" b="0" i="0" u="none" strike="noStrike">
                <a:solidFill>
                  <a:srgbClr val="10231C"/>
                </a:solidFill>
                <a:latin typeface="Calibri"/>
              </a:rPr>
              <a:t>Test accuracy (%) on 6,000 held-out projects</a:t>
            </a:r>
          </a:p>
        </c:rich>
      </c:tx>
      <c:layout/>
      <c:overlay val="0"/>
    </c:title>
    <c:autoTitleDeleted val="0"/>
    <c:plotArea>
      <c:layout/>
      <c:barChart>
        <c:barDir val="bar"/>
        <c:grouping val="clustered"/>
        <c:varyColors val="0"/>
        <c:ser>
          <c:idx val="0"/>
          <c:order val="0"/>
          <c:tx>
            <c:strRef>
              <c:f>Sheet1!$B$1</c:f>
              <c:strCache>
                <c:ptCount val="1"/>
                <c:pt idx="0">
                  <c:v>Test accuracy (%)</c:v>
                </c:pt>
              </c:strCache>
            </c:strRef>
          </c:tx>
          <c:spPr>
            <a:solidFill>
              <a:srgbClr val="9AA9A2"/>
            </a:solidFill>
            <a:effectLst/>
          </c:spPr>
          <c:invertIfNegative val="0"/>
          <c:dLbls>
            <c:numFmt formatCode="0.0" sourceLinked="0"/>
            <c:txPr>
              <a:bodyPr/>
              <a:lstStyle/>
              <a:p>
                <a:pPr>
                  <a:defRPr b="0" i="0" strike="noStrike" sz="1100" u="none">
                    <a:solidFill>
                      <a:srgbClr val="10231C"/>
                    </a:solidFill>
                    <a:latin typeface="Arial"/>
                  </a:defRPr>
                </a:pPr>
              </a:p>
            </c:txPr>
            <c:showLegendKey val="0"/>
            <c:showVal val="1"/>
            <c:showCatName val="0"/>
            <c:showSerName val="0"/>
            <c:showPercent val="0"/>
            <c:showBubbleSize val="0"/>
            <c:showLeaderLines val="0"/>
          </c:dLbls>
          <c:dPt>
            <c:idx val="0"/>
            <c:invertIfNegative val="0"/>
            <c:bubble3D val="0"/>
            <c:spPr>
              <a:solidFill>
                <a:srgbClr val="9AA9A2"/>
              </a:solidFill>
              <a:effectLst/>
            </c:spPr>
          </c:dPt>
          <c:dPt>
            <c:idx val="1"/>
            <c:invertIfNegative val="0"/>
            <c:bubble3D val="0"/>
            <c:spPr>
              <a:solidFill>
                <a:srgbClr val="C8D5CE"/>
              </a:solidFill>
              <a:effectLst/>
            </c:spPr>
          </c:dPt>
          <c:dPt>
            <c:idx val="2"/>
            <c:invertIfNegative val="0"/>
            <c:bubble3D val="0"/>
            <c:spPr>
              <a:solidFill>
                <a:srgbClr val="C8D5CE"/>
              </a:solidFill>
              <a:effectLst/>
            </c:spPr>
          </c:dPt>
          <c:dPt>
            <c:idx val="3"/>
            <c:invertIfNegative val="0"/>
            <c:bubble3D val="0"/>
            <c:spPr>
              <a:solidFill>
                <a:srgbClr val="C8D5CE"/>
              </a:solidFill>
              <a:effectLst/>
            </c:spPr>
          </c:dPt>
          <c:dPt>
            <c:idx val="4"/>
            <c:invertIfNegative val="0"/>
            <c:bubble3D val="0"/>
            <c:spPr>
              <a:solidFill>
                <a:srgbClr val="C8D5CE"/>
              </a:solidFill>
              <a:effectLst/>
            </c:spPr>
          </c:dPt>
          <c:dPt>
            <c:idx val="5"/>
            <c:invertIfNegative val="0"/>
            <c:bubble3D val="0"/>
            <c:spPr>
              <a:solidFill>
                <a:srgbClr val="C8D5CE"/>
              </a:solidFill>
              <a:effectLst/>
            </c:spPr>
          </c:dPt>
          <c:dPt>
            <c:idx val="6"/>
            <c:invertIfNegative val="0"/>
            <c:bubble3D val="0"/>
            <c:spPr>
              <a:solidFill>
                <a:srgbClr val="C8D5CE"/>
              </a:solidFill>
              <a:effectLst/>
            </c:spPr>
          </c:dPt>
          <c:dPt>
            <c:idx val="7"/>
            <c:invertIfNegative val="0"/>
            <c:bubble3D val="0"/>
            <c:spPr>
              <a:solidFill>
                <a:srgbClr val="05CE78"/>
              </a:solidFill>
              <a:effectLst/>
            </c:spPr>
          </c:dPt>
          <c:cat>
            <c:multiLvlStrRef>
              <c:f>Sheet1!$A$2:$A$9</c:f>
              <c:multiLvlStrCache>
                <c:ptCount val="8"/>
                <c:lvl>
                  <c:pt idx="0">
                    <c:v>Majority baseline</c:v>
                  </c:pt>
                  <c:pt idx="1">
                    <c:v>Ridge</c:v>
                  </c:pt>
                  <c:pt idx="2">
                    <c:v>Linear SVM</c:v>
                  </c:pt>
                  <c:pt idx="3">
                    <c:v>Logistic Regression</c:v>
                  </c:pt>
                  <c:pt idx="4">
                    <c:v>L1 Logistic</c:v>
                  </c:pt>
                  <c:pt idx="5">
                    <c:v>Neural Network</c:v>
                  </c:pt>
                  <c:pt idx="6">
                    <c:v>Random Forest</c:v>
                  </c:pt>
                  <c:pt idx="7">
                    <c:v>Gradient Boosting</c:v>
                  </c:pt>
                </c:lvl>
              </c:multiLvlStrCache>
            </c:multiLvlStrRef>
          </c:cat>
          <c:val>
            <c:numRef>
              <c:f>Sheet1!$B$2:$B$9</c:f>
              <c:numCache>
                <c:formatCode>General</c:formatCode>
                <c:ptCount val="8"/>
                <c:pt idx="0">
                  <c:v>54.8</c:v>
                </c:pt>
                <c:pt idx="1">
                  <c:v>64.5</c:v>
                </c:pt>
                <c:pt idx="2">
                  <c:v>68.3</c:v>
                </c:pt>
                <c:pt idx="3">
                  <c:v>68.6</c:v>
                </c:pt>
                <c:pt idx="4">
                  <c:v>69.1</c:v>
                </c:pt>
                <c:pt idx="5">
                  <c:v>69.1</c:v>
                </c:pt>
                <c:pt idx="6">
                  <c:v>69.6</c:v>
                </c:pt>
                <c:pt idx="7">
                  <c:v>71.5</c:v>
                </c:pt>
              </c:numCache>
            </c:numRef>
          </c:val>
        </c:ser>
        <c:dLbls>
          <c:numFmt formatCode="0.0" sourceLinked="0"/>
          <c:txPr>
            <a:bodyPr/>
            <a:lstStyle/>
            <a:p>
              <a:pPr>
                <a:defRPr b="0" i="0" strike="noStrike" sz="1100" u="none">
                  <a:solidFill>
                    <a:srgbClr val="1023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0231C"/>
                </a:solidFill>
                <a:latin typeface="Calibri"/>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31C"/>
                </a:solidFill>
                <a:latin typeface="Calibri"/>
              </a:defRPr>
            </a:pPr>
            <a:r>
              <a:rPr sz="1200" b="0" i="0" u="none" strike="noStrike">
                <a:solidFill>
                  <a:srgbClr val="10231C"/>
                </a:solidFill>
                <a:latin typeface="Calibri"/>
              </a:rPr>
              <a:t>Gradient Boosting feature importance (%)</a:t>
            </a:r>
          </a:p>
        </c:rich>
      </c:tx>
      <c:layout/>
      <c:overlay val="0"/>
    </c:title>
    <c:autoTitleDeleted val="0"/>
    <c:plotArea>
      <c:layout/>
      <c:barChart>
        <c:barDir val="bar"/>
        <c:grouping val="clustered"/>
        <c:varyColors val="0"/>
        <c:ser>
          <c:idx val="0"/>
          <c:order val="0"/>
          <c:tx>
            <c:strRef>
              <c:f>Sheet1!$B$1</c:f>
              <c:strCache>
                <c:ptCount val="1"/>
                <c:pt idx="0">
                  <c:v>Importance (%)</c:v>
                </c:pt>
              </c:strCache>
            </c:strRef>
          </c:tx>
          <c:spPr>
            <a:solidFill>
              <a:srgbClr val="05CE78"/>
            </a:solidFill>
            <a:effectLst/>
          </c:spPr>
          <c:invertIfNegative val="0"/>
          <c:dLbls>
            <c:numFmt formatCode="0.0" sourceLinked="0"/>
            <c:txPr>
              <a:bodyPr/>
              <a:lstStyle/>
              <a:p>
                <a:pPr>
                  <a:defRPr b="0" i="0" strike="noStrike" sz="1100" u="none">
                    <a:solidFill>
                      <a:srgbClr val="10231C"/>
                    </a:solidFill>
                    <a:latin typeface="Arial"/>
                  </a:defRPr>
                </a:pPr>
              </a:p>
            </c:txPr>
            <c:showLegendKey val="0"/>
            <c:showVal val="1"/>
            <c:showCatName val="0"/>
            <c:showSerName val="0"/>
            <c:showPercent val="0"/>
            <c:showBubbleSize val="0"/>
            <c:showLeaderLines val="0"/>
          </c:dLbls>
          <c:cat>
            <c:multiLvlStrRef>
              <c:f>Sheet1!$A$2:$A$9</c:f>
              <c:multiLvlStrCache>
                <c:ptCount val="8"/>
                <c:lvl>
                  <c:pt idx="0">
                    <c:v>LDA topic 10</c:v>
                  </c:pt>
                  <c:pt idx="1">
                    <c:v>LDA topic 7</c:v>
                  </c:pt>
                  <c:pt idx="2">
                    <c:v>Category: Games</c:v>
                  </c:pt>
                  <c:pt idx="3">
                    <c:v>LDA topic 4</c:v>
                  </c:pt>
                  <c:pt idx="4">
                    <c:v>Category: Crafts</c:v>
                  </c:pt>
                  <c:pt idx="5">
                    <c:v>Duration (days)</c:v>
                  </c:pt>
                  <c:pt idx="6">
                    <c:v>Text score (Naive Bayes)</c:v>
                  </c:pt>
                  <c:pt idx="7">
                    <c:v>Goal (USD)</c:v>
                  </c:pt>
                </c:lvl>
              </c:multiLvlStrCache>
            </c:multiLvlStrRef>
          </c:cat>
          <c:val>
            <c:numRef>
              <c:f>Sheet1!$B$2:$B$9</c:f>
              <c:numCache>
                <c:formatCode>General</c:formatCode>
                <c:ptCount val="8"/>
                <c:pt idx="0">
                  <c:v>1.5</c:v>
                </c:pt>
                <c:pt idx="1">
                  <c:v>1.7</c:v>
                </c:pt>
                <c:pt idx="2">
                  <c:v>1.7</c:v>
                </c:pt>
                <c:pt idx="3">
                  <c:v>1.7</c:v>
                </c:pt>
                <c:pt idx="4">
                  <c:v>2</c:v>
                </c:pt>
                <c:pt idx="5">
                  <c:v>2.4</c:v>
                </c:pt>
                <c:pt idx="6">
                  <c:v>17.1</c:v>
                </c:pt>
                <c:pt idx="7">
                  <c:v>45.5</c:v>
                </c:pt>
              </c:numCache>
            </c:numRef>
          </c:val>
        </c:ser>
        <c:dLbls>
          <c:numFmt formatCode="0.0" sourceLinked="0"/>
          <c:txPr>
            <a:bodyPr/>
            <a:lstStyle/>
            <a:p>
              <a:pPr>
                <a:defRPr b="0" i="0" strike="noStrike" sz="1100" u="none">
                  <a:solidFill>
                    <a:srgbClr val="1023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0231C"/>
                </a:solidFill>
                <a:latin typeface="Calibri"/>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problem (#56, based on the CS229 Kickstarter paper). The headline result is Gradient Boosting at 71.5% accuracy against a 54.8% majority baseline on 6,000 held-out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binary classification using only information known when the campaign launches. We deliberately exclude post-launch variables such as amount pledged or backers because they would leak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this dataset is synthetic. It is not scraped from Kickstarter. We built it so that known trends exist (larger goals fail more, category differences, blurb quality) with random noise on top. Results describe this data and should not be compared with the paper's real-data numbers. The first version of our dataset had only 50 distinct blurbs and no real signal, so we regenerated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 sources are combined. The Naive Bayes probability is stacked in as a single feature, and LDA adds ten topic probabilities. That gives 174 features in total after one-hot encoding. Seven classifiers are compared on the same split, and the best (Gradient Boosting) is tuned with grid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Q&amp;A question. If the Naive Bayes probability for training rows comes from a model trained on those same rows, it is overly confident, and the second-stage model learns to rely on it too much. Using out-of-fold predictions fixes this. Test-set metrics barely changed, but the pipeline is now methodologically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always predicts success and gets 54.8%. All real models beat it. Tree ensembles beat the linear models, which suggests non-linear effects such as goal size relative to category. Ridge is weakest because it is a regression model used as a classifier. Precision/recall/F1/AUC for every model are in model_results.csv.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comes from the untuned Gradient Boosting model in the notebook. Goal size is by far the strongest signal, matching how the data was generated and what is reported for real Kickstarter data. The out-of-fold Naive Bayes score is second, so the blurb text does help. LDA topics have small individual importance because blurbs are built from a limited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Tuning did not improve on the default model (0.712 vs 0.715), which is plausible given moderate signal. The cross-validated accuracy (0.714) matches the test accuracy (0.712), so the model is not overfitting. Recall is 0.66 for failures and 0.76 for successes, so it is not collapsing to the majority class, which was a problem with the first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open the notebook, run the last cells, then call predict_project() on two inputs. Outputs shown here were produced by the saved models in the repo. In the demo, change the goal or the blurb and show the probability move. Notebook example: Smart Eco Travel Bottle, Technology/Gadgets, $5,000, 2026-10-01 to 2026-11-15.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best model, key drivers, honest evaluation. Be clear about the main limitation: the data is synthetic, so we expect real-data accuracy to differ and would rerun the same pipeline on the Web Robots scrape.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24"/>
        </a:solidFill>
      </p:bgPr>
    </p:bg>
    <p:spTree>
      <p:nvGrpSpPr>
        <p:cNvPr id="1" name=""/>
        <p:cNvGrpSpPr/>
        <p:nvPr/>
      </p:nvGrpSpPr>
      <p:grpSpPr>
        <a:xfrm>
          <a:off x="0" y="0"/>
          <a:ext cx="0" cy="0"/>
          <a:chOff x="0" y="0"/>
          <a:chExt cx="0" cy="0"/>
        </a:xfrm>
      </p:grpSpPr>
      <p:sp>
        <p:nvSpPr>
          <p:cNvPr id="2" name="Text 0"/>
          <p:cNvSpPr txBox="1"/>
          <p:nvPr/>
        </p:nvSpPr>
        <p:spPr>
          <a:xfrm>
            <a:off x="548640" y="914400"/>
            <a:ext cx="512064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Kickstarter Project Success Prediction</a:t>
            </a:r>
            <a:endParaRPr lang="en-US" sz="3800" dirty="0"/>
          </a:p>
        </p:txBody>
      </p:sp>
      <p:sp>
        <p:nvSpPr>
          <p:cNvPr id="3" name="Text 1"/>
          <p:cNvSpPr txBox="1"/>
          <p:nvPr/>
        </p:nvSpPr>
        <p:spPr>
          <a:xfrm>
            <a:off x="548640" y="2606040"/>
            <a:ext cx="4937760" cy="731520"/>
          </a:xfrm>
          <a:prstGeom prst="rect">
            <a:avLst/>
          </a:prstGeom>
          <a:noFill/>
          <a:ln/>
        </p:spPr>
        <p:txBody>
          <a:bodyPr wrap="square" lIns="0" tIns="0" rIns="0" bIns="0" rtlCol="0" anchor="t"/>
          <a:lstStyle/>
          <a:p>
            <a:pPr indent="0" marL="0">
              <a:buNone/>
            </a:pPr>
            <a:r>
              <a:rPr lang="en-US" sz="1700" dirty="0">
                <a:solidFill>
                  <a:srgbClr val="05CE78"/>
                </a:solidFill>
                <a:latin typeface="Calibri" pitchFamily="34" charset="0"/>
                <a:ea typeface="Calibri" pitchFamily="34" charset="-122"/>
                <a:cs typeface="Calibri" pitchFamily="34" charset="-120"/>
              </a:rPr>
              <a:t>Predicting campaign outcomes from launch-time metadata and blurb text</a:t>
            </a:r>
            <a:endParaRPr lang="en-US" sz="1700" dirty="0"/>
          </a:p>
        </p:txBody>
      </p:sp>
      <p:sp>
        <p:nvSpPr>
          <p:cNvPr id="4" name="Text 2"/>
          <p:cNvSpPr txBox="1"/>
          <p:nvPr/>
        </p:nvSpPr>
        <p:spPr>
          <a:xfrm>
            <a:off x="548640" y="3794760"/>
            <a:ext cx="5486400" cy="914400"/>
          </a:xfrm>
          <a:prstGeom prst="rect">
            <a:avLst/>
          </a:prstGeom>
          <a:noFill/>
          <a:ln/>
        </p:spPr>
        <p:txBody>
          <a:bodyPr wrap="square" lIns="0" tIns="0" rIns="0" bIns="0" rtlCol="0" anchor="t"/>
          <a:lstStyle/>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Aaditya Vijaywargi (PES1UG24AM003)</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Amruta Sai (PES1UG24AM035)</a:t>
            </a:r>
            <a:endParaRPr lang="en-US" sz="1300" dirty="0"/>
          </a:p>
          <a:p>
            <a:pPr indent="0" marL="0">
              <a:spcAft>
                <a:spcPts val="300"/>
              </a:spcAft>
              <a:buNone/>
            </a:pPr>
            <a:r>
              <a:rPr lang="en-US" sz="1300" dirty="0">
                <a:solidFill>
                  <a:srgbClr val="9DB8AD"/>
                </a:solidFill>
                <a:latin typeface="Calibri" pitchFamily="34" charset="0"/>
                <a:ea typeface="Calibri" pitchFamily="34" charset="-122"/>
                <a:cs typeface="Calibri" pitchFamily="34" charset="-120"/>
              </a:rPr>
              <a:t>UE24CS352A Machine Learning  |  Mini-Project, Problem #56</a:t>
            </a:r>
            <a:endParaRPr lang="en-US" sz="1300" dirty="0"/>
          </a:p>
        </p:txBody>
      </p:sp>
      <p:sp>
        <p:nvSpPr>
          <p:cNvPr id="5" name="Shape 3"/>
          <p:cNvSpPr/>
          <p:nvPr/>
        </p:nvSpPr>
        <p:spPr>
          <a:xfrm>
            <a:off x="6035040" y="914400"/>
            <a:ext cx="2651760" cy="2651760"/>
          </a:xfrm>
          <a:prstGeom prst="ellipse">
            <a:avLst/>
          </a:prstGeom>
          <a:solidFill>
            <a:srgbClr val="14513D"/>
          </a:solidFill>
          <a:ln w="25400">
            <a:solidFill>
              <a:srgbClr val="05CE78"/>
            </a:solidFill>
            <a:prstDash val="solid"/>
          </a:ln>
        </p:spPr>
      </p:sp>
      <p:sp>
        <p:nvSpPr>
          <p:cNvPr id="6" name="Text 4"/>
          <p:cNvSpPr txBox="1"/>
          <p:nvPr/>
        </p:nvSpPr>
        <p:spPr>
          <a:xfrm>
            <a:off x="6035040" y="1508760"/>
            <a:ext cx="265176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71.5%</a:t>
            </a:r>
            <a:endParaRPr lang="en-US" sz="4400" dirty="0"/>
          </a:p>
        </p:txBody>
      </p:sp>
      <p:sp>
        <p:nvSpPr>
          <p:cNvPr id="7" name="Text 5"/>
          <p:cNvSpPr txBox="1"/>
          <p:nvPr/>
        </p:nvSpPr>
        <p:spPr>
          <a:xfrm>
            <a:off x="6035040" y="2331720"/>
            <a:ext cx="2651760" cy="320040"/>
          </a:xfrm>
          <a:prstGeom prst="rect">
            <a:avLst/>
          </a:prstGeom>
          <a:noFill/>
          <a:ln/>
        </p:spPr>
        <p:txBody>
          <a:bodyPr wrap="square" lIns="0" tIns="0" rIns="0" bIns="0" rtlCol="0" anchor="ctr"/>
          <a:lstStyle/>
          <a:p>
            <a:pPr algn="ctr" indent="0" marL="0">
              <a:buNone/>
            </a:pPr>
            <a:r>
              <a:rPr lang="en-US" sz="1400" dirty="0">
                <a:solidFill>
                  <a:srgbClr val="05CE78"/>
                </a:solidFill>
                <a:latin typeface="Calibri" pitchFamily="34" charset="0"/>
                <a:ea typeface="Calibri" pitchFamily="34" charset="-122"/>
                <a:cs typeface="Calibri" pitchFamily="34" charset="-120"/>
              </a:rPr>
              <a:t>test accuracy</a:t>
            </a:r>
            <a:endParaRPr lang="en-US" sz="1400" dirty="0"/>
          </a:p>
        </p:txBody>
      </p:sp>
      <p:sp>
        <p:nvSpPr>
          <p:cNvPr id="8" name="Text 6"/>
          <p:cNvSpPr txBox="1"/>
          <p:nvPr/>
        </p:nvSpPr>
        <p:spPr>
          <a:xfrm>
            <a:off x="6035040" y="2651760"/>
            <a:ext cx="2651760" cy="320040"/>
          </a:xfrm>
          <a:prstGeom prst="rect">
            <a:avLst/>
          </a:prstGeom>
          <a:noFill/>
          <a:ln/>
        </p:spPr>
        <p:txBody>
          <a:bodyPr wrap="square" lIns="0" tIns="0" rIns="0" bIns="0" rtlCol="0" anchor="ctr"/>
          <a:lstStyle/>
          <a:p>
            <a:pPr algn="ctr" indent="0" marL="0">
              <a:buNone/>
            </a:pPr>
            <a:r>
              <a:rPr lang="en-US" sz="1200" dirty="0">
                <a:solidFill>
                  <a:srgbClr val="9DB8AD"/>
                </a:solidFill>
                <a:latin typeface="Calibri" pitchFamily="34" charset="0"/>
                <a:ea typeface="Calibri" pitchFamily="34" charset="-122"/>
                <a:cs typeface="Calibri" pitchFamily="34" charset="-120"/>
              </a:rPr>
              <a:t>vs 54.8% baseline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5"/>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0231C"/>
                </a:solidFill>
                <a:latin typeface="Cambria" pitchFamily="34" charset="0"/>
                <a:ea typeface="Cambria" pitchFamily="34" charset="-122"/>
                <a:cs typeface="Cambria" pitchFamily="34" charset="-120"/>
              </a:rPr>
              <a:t>Can we predict a campaign's fate at launch?</a:t>
            </a:r>
            <a:endParaRPr lang="en-US" sz="3000" dirty="0"/>
          </a:p>
        </p:txBody>
      </p:sp>
      <p:sp>
        <p:nvSpPr>
          <p:cNvPr id="3" name="Shape 1"/>
          <p:cNvSpPr/>
          <p:nvPr/>
        </p:nvSpPr>
        <p:spPr>
          <a:xfrm>
            <a:off x="457200" y="1234440"/>
            <a:ext cx="548640" cy="548640"/>
          </a:xfrm>
          <a:prstGeom prst="ellipse">
            <a:avLst/>
          </a:prstGeom>
          <a:solidFill>
            <a:srgbClr val="05CE78"/>
          </a:solidFill>
          <a:ln w="12700">
            <a:solidFill>
              <a:srgbClr val="05CE78"/>
            </a:solidFill>
            <a:prstDash val="solid"/>
          </a:ln>
        </p:spPr>
      </p:sp>
      <p:pic>
        <p:nvPicPr>
          <p:cNvPr id="4" name="Image 0" descr="preencoded.png">    </p:cNvPr>
          <p:cNvPicPr>
            <a:picLocks noChangeAspect="1"/>
          </p:cNvPicPr>
          <p:nvPr/>
        </p:nvPicPr>
        <p:blipFill>
          <a:blip r:embed="rId1"/>
          <a:stretch>
            <a:fillRect/>
          </a:stretch>
        </p:blipFill>
        <p:spPr>
          <a:xfrm>
            <a:off x="594360" y="1371600"/>
            <a:ext cx="274320" cy="274320"/>
          </a:xfrm>
          <a:prstGeom prst="rect">
            <a:avLst/>
          </a:prstGeom>
        </p:spPr>
      </p:pic>
      <p:sp>
        <p:nvSpPr>
          <p:cNvPr id="5" name="Text 2"/>
          <p:cNvSpPr txBox="1"/>
          <p:nvPr/>
        </p:nvSpPr>
        <p:spPr>
          <a:xfrm>
            <a:off x="1188720" y="1216152"/>
            <a:ext cx="3931920" cy="292608"/>
          </a:xfrm>
          <a:prstGeom prst="rect">
            <a:avLst/>
          </a:prstGeom>
          <a:noFill/>
          <a:ln/>
        </p:spPr>
        <p:txBody>
          <a:bodyPr wrap="square" lIns="0" tIns="0" rIns="0" bIns="0" rtlCol="0" anchor="ctr"/>
          <a:lstStyle/>
          <a:p>
            <a:pPr indent="0" marL="0">
              <a:buNone/>
            </a:pPr>
            <a:r>
              <a:rPr lang="en-US" sz="1600" b="1" dirty="0">
                <a:solidFill>
                  <a:srgbClr val="10231C"/>
                </a:solidFill>
                <a:latin typeface="Calibri" pitchFamily="34" charset="0"/>
                <a:ea typeface="Calibri" pitchFamily="34" charset="-122"/>
                <a:cs typeface="Calibri" pitchFamily="34" charset="-120"/>
              </a:rPr>
              <a:t>Task</a:t>
            </a:r>
            <a:endParaRPr lang="en-US" sz="1600" dirty="0"/>
          </a:p>
        </p:txBody>
      </p:sp>
      <p:sp>
        <p:nvSpPr>
          <p:cNvPr id="6" name="Text 3"/>
          <p:cNvSpPr txBox="1"/>
          <p:nvPr/>
        </p:nvSpPr>
        <p:spPr>
          <a:xfrm>
            <a:off x="1188720" y="1508760"/>
            <a:ext cx="3931920" cy="685800"/>
          </a:xfrm>
          <a:prstGeom prst="rect">
            <a:avLst/>
          </a:prstGeom>
          <a:noFill/>
          <a:ln/>
        </p:spPr>
        <p:txBody>
          <a:bodyPr wrap="square" lIns="0" tIns="0" rIns="0" bIns="0" rtlCol="0" anchor="t"/>
          <a:lstStyle/>
          <a:p>
            <a:pPr indent="0" marL="0">
              <a:buNone/>
            </a:pPr>
            <a:r>
              <a:rPr lang="en-US" sz="1300" dirty="0">
                <a:solidFill>
                  <a:srgbClr val="5B6E66"/>
                </a:solidFill>
                <a:latin typeface="Calibri" pitchFamily="34" charset="0"/>
                <a:ea typeface="Calibri" pitchFamily="34" charset="-122"/>
                <a:cs typeface="Calibri" pitchFamily="34" charset="-120"/>
              </a:rPr>
              <a:t>Binary classification: will a campaign reach its funding goal (success = 1, failure = 0)?</a:t>
            </a:r>
            <a:endParaRPr lang="en-US" sz="1300" dirty="0"/>
          </a:p>
        </p:txBody>
      </p:sp>
      <p:sp>
        <p:nvSpPr>
          <p:cNvPr id="7" name="Shape 4"/>
          <p:cNvSpPr/>
          <p:nvPr/>
        </p:nvSpPr>
        <p:spPr>
          <a:xfrm>
            <a:off x="457200" y="2377440"/>
            <a:ext cx="548640" cy="548640"/>
          </a:xfrm>
          <a:prstGeom prst="ellipse">
            <a:avLst/>
          </a:prstGeom>
          <a:solidFill>
            <a:srgbClr val="05CE78"/>
          </a:solidFill>
          <a:ln w="12700">
            <a:solidFill>
              <a:srgbClr val="05CE78"/>
            </a:solidFill>
            <a:prstDash val="solid"/>
          </a:ln>
        </p:spPr>
      </p:sp>
      <p:pic>
        <p:nvPicPr>
          <p:cNvPr id="8" name="Image 1" descr="preencoded.png">    </p:cNvPr>
          <p:cNvPicPr>
            <a:picLocks noChangeAspect="1"/>
          </p:cNvPicPr>
          <p:nvPr/>
        </p:nvPicPr>
        <p:blipFill>
          <a:blip r:embed="rId2"/>
          <a:stretch>
            <a:fillRect/>
          </a:stretch>
        </p:blipFill>
        <p:spPr>
          <a:xfrm>
            <a:off x="594360" y="2514600"/>
            <a:ext cx="274320" cy="274320"/>
          </a:xfrm>
          <a:prstGeom prst="rect">
            <a:avLst/>
          </a:prstGeom>
        </p:spPr>
      </p:pic>
      <p:sp>
        <p:nvSpPr>
          <p:cNvPr id="9" name="Text 5"/>
          <p:cNvSpPr txBox="1"/>
          <p:nvPr/>
        </p:nvSpPr>
        <p:spPr>
          <a:xfrm>
            <a:off x="1188720" y="2359152"/>
            <a:ext cx="3931920" cy="292608"/>
          </a:xfrm>
          <a:prstGeom prst="rect">
            <a:avLst/>
          </a:prstGeom>
          <a:noFill/>
          <a:ln/>
        </p:spPr>
        <p:txBody>
          <a:bodyPr wrap="square" lIns="0" tIns="0" rIns="0" bIns="0" rtlCol="0" anchor="ctr"/>
          <a:lstStyle/>
          <a:p>
            <a:pPr indent="0" marL="0">
              <a:buNone/>
            </a:pPr>
            <a:r>
              <a:rPr lang="en-US" sz="1600" b="1" dirty="0">
                <a:solidFill>
                  <a:srgbClr val="10231C"/>
                </a:solidFill>
                <a:latin typeface="Calibri" pitchFamily="34" charset="0"/>
                <a:ea typeface="Calibri" pitchFamily="34" charset="-122"/>
                <a:cs typeface="Calibri" pitchFamily="34" charset="-120"/>
              </a:rPr>
              <a:t>No leakage</a:t>
            </a:r>
            <a:endParaRPr lang="en-US" sz="1600" dirty="0"/>
          </a:p>
        </p:txBody>
      </p:sp>
      <p:sp>
        <p:nvSpPr>
          <p:cNvPr id="10" name="Text 6"/>
          <p:cNvSpPr txBox="1"/>
          <p:nvPr/>
        </p:nvSpPr>
        <p:spPr>
          <a:xfrm>
            <a:off x="1188720" y="2651760"/>
            <a:ext cx="3931920" cy="685800"/>
          </a:xfrm>
          <a:prstGeom prst="rect">
            <a:avLst/>
          </a:prstGeom>
          <a:noFill/>
          <a:ln/>
        </p:spPr>
        <p:txBody>
          <a:bodyPr wrap="square" lIns="0" tIns="0" rIns="0" bIns="0" rtlCol="0" anchor="t"/>
          <a:lstStyle/>
          <a:p>
            <a:pPr indent="0" marL="0">
              <a:buNone/>
            </a:pPr>
            <a:r>
              <a:rPr lang="en-US" sz="1300" dirty="0">
                <a:solidFill>
                  <a:srgbClr val="5B6E66"/>
                </a:solidFill>
                <a:latin typeface="Calibri" pitchFamily="34" charset="0"/>
                <a:ea typeface="Calibri" pitchFamily="34" charset="-122"/>
                <a:cs typeface="Calibri" pitchFamily="34" charset="-120"/>
              </a:rPr>
              <a:t>Only launch-time information is used. Pledged amount and backer count are excluded.</a:t>
            </a:r>
            <a:endParaRPr lang="en-US" sz="1300" dirty="0"/>
          </a:p>
        </p:txBody>
      </p:sp>
      <p:sp>
        <p:nvSpPr>
          <p:cNvPr id="11" name="Shape 7"/>
          <p:cNvSpPr/>
          <p:nvPr/>
        </p:nvSpPr>
        <p:spPr>
          <a:xfrm>
            <a:off x="457200" y="3520440"/>
            <a:ext cx="548640" cy="548640"/>
          </a:xfrm>
          <a:prstGeom prst="ellipse">
            <a:avLst/>
          </a:prstGeom>
          <a:solidFill>
            <a:srgbClr val="05CE78"/>
          </a:solidFill>
          <a:ln w="12700">
            <a:solidFill>
              <a:srgbClr val="05CE78"/>
            </a:solidFill>
            <a:prstDash val="solid"/>
          </a:ln>
        </p:spPr>
      </p:sp>
      <p:pic>
        <p:nvPicPr>
          <p:cNvPr id="12" name="Image 2" descr="preencoded.png">    </p:cNvPr>
          <p:cNvPicPr>
            <a:picLocks noChangeAspect="1"/>
          </p:cNvPicPr>
          <p:nvPr/>
        </p:nvPicPr>
        <p:blipFill>
          <a:blip r:embed="rId3"/>
          <a:stretch>
            <a:fillRect/>
          </a:stretch>
        </p:blipFill>
        <p:spPr>
          <a:xfrm>
            <a:off x="594360" y="3657600"/>
            <a:ext cx="274320" cy="274320"/>
          </a:xfrm>
          <a:prstGeom prst="rect">
            <a:avLst/>
          </a:prstGeom>
        </p:spPr>
      </p:pic>
      <p:sp>
        <p:nvSpPr>
          <p:cNvPr id="13" name="Text 8"/>
          <p:cNvSpPr txBox="1"/>
          <p:nvPr/>
        </p:nvSpPr>
        <p:spPr>
          <a:xfrm>
            <a:off x="1188720" y="3502152"/>
            <a:ext cx="3931920" cy="292608"/>
          </a:xfrm>
          <a:prstGeom prst="rect">
            <a:avLst/>
          </a:prstGeom>
          <a:noFill/>
          <a:ln/>
        </p:spPr>
        <p:txBody>
          <a:bodyPr wrap="square" lIns="0" tIns="0" rIns="0" bIns="0" rtlCol="0" anchor="ctr"/>
          <a:lstStyle/>
          <a:p>
            <a:pPr indent="0" marL="0">
              <a:buNone/>
            </a:pPr>
            <a:r>
              <a:rPr lang="en-US" sz="1600" b="1" dirty="0">
                <a:solidFill>
                  <a:srgbClr val="10231C"/>
                </a:solidFill>
                <a:latin typeface="Calibri" pitchFamily="34" charset="0"/>
                <a:ea typeface="Calibri" pitchFamily="34" charset="-122"/>
                <a:cs typeface="Calibri" pitchFamily="34" charset="-120"/>
              </a:rPr>
              <a:t>Reference</a:t>
            </a:r>
            <a:endParaRPr lang="en-US" sz="1600" dirty="0"/>
          </a:p>
        </p:txBody>
      </p:sp>
      <p:sp>
        <p:nvSpPr>
          <p:cNvPr id="14" name="Text 9"/>
          <p:cNvSpPr txBox="1"/>
          <p:nvPr/>
        </p:nvSpPr>
        <p:spPr>
          <a:xfrm>
            <a:off x="1188720" y="3794760"/>
            <a:ext cx="3931920" cy="685800"/>
          </a:xfrm>
          <a:prstGeom prst="rect">
            <a:avLst/>
          </a:prstGeom>
          <a:noFill/>
          <a:ln/>
        </p:spPr>
        <p:txBody>
          <a:bodyPr wrap="square" lIns="0" tIns="0" rIns="0" bIns="0" rtlCol="0" anchor="t"/>
          <a:lstStyle/>
          <a:p>
            <a:pPr indent="0" marL="0">
              <a:buNone/>
            </a:pPr>
            <a:r>
              <a:rPr lang="en-US" sz="1300" dirty="0">
                <a:solidFill>
                  <a:srgbClr val="5B6E66"/>
                </a:solidFill>
                <a:latin typeface="Calibri" pitchFamily="34" charset="0"/>
                <a:ea typeface="Calibri" pitchFamily="34" charset="-122"/>
                <a:cs typeface="Calibri" pitchFamily="34" charset="-120"/>
              </a:rPr>
              <a:t>Follows the CS229 report "Crowdfunding: Predicting Kickstarter Project Success": metadata + TF-IDF/Naive Bayes + LDA.</a:t>
            </a:r>
            <a:endParaRPr lang="en-US" sz="1300" dirty="0"/>
          </a:p>
        </p:txBody>
      </p:sp>
      <p:sp>
        <p:nvSpPr>
          <p:cNvPr id="15" name="Shape 10"/>
          <p:cNvSpPr/>
          <p:nvPr/>
        </p:nvSpPr>
        <p:spPr>
          <a:xfrm>
            <a:off x="5669280" y="1188720"/>
            <a:ext cx="3017520" cy="1097280"/>
          </a:xfrm>
          <a:prstGeom prst="roundRect">
            <a:avLst>
              <a:gd name="adj" fmla="val 10000"/>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6" name="Text 11"/>
          <p:cNvSpPr txBox="1"/>
          <p:nvPr/>
        </p:nvSpPr>
        <p:spPr>
          <a:xfrm>
            <a:off x="5852160" y="1261872"/>
            <a:ext cx="2651760" cy="950976"/>
          </a:xfrm>
          <a:prstGeom prst="rect">
            <a:avLst/>
          </a:prstGeom>
          <a:noFill/>
          <a:ln/>
        </p:spPr>
        <p:txBody>
          <a:bodyPr wrap="square" lIns="0" tIns="0" rIns="0" bIns="0" rtlCol="0" anchor="ctr"/>
          <a:lstStyle/>
          <a:p>
            <a:pPr indent="0" marL="0">
              <a:buNone/>
            </a:pPr>
            <a:r>
              <a:rPr lang="en-US" sz="1400" b="1" dirty="0">
                <a:solidFill>
                  <a:srgbClr val="10231C"/>
                </a:solidFill>
                <a:latin typeface="Calibri" pitchFamily="34" charset="0"/>
                <a:ea typeface="Calibri" pitchFamily="34" charset="-122"/>
                <a:cs typeface="Calibri" pitchFamily="34" charset="-120"/>
              </a:rPr>
              <a:t>Launch-time inputs</a:t>
            </a:r>
            <a:endParaRPr lang="en-US" sz="1400" dirty="0"/>
          </a:p>
          <a:p>
            <a:pPr indent="0" marL="0">
              <a:buNone/>
            </a:pPr>
            <a:r>
              <a:rPr lang="en-US" sz="1200" dirty="0">
                <a:solidFill>
                  <a:srgbClr val="5B6E66"/>
                </a:solidFill>
                <a:latin typeface="Calibri" pitchFamily="34" charset="0"/>
                <a:ea typeface="Calibri" pitchFamily="34" charset="-122"/>
                <a:cs typeface="Calibri" pitchFamily="34" charset="-120"/>
              </a:rPr>
              <a:t>goal, duration, category, location, dates, blurb text</a:t>
            </a:r>
            <a:endParaRPr lang="en-US" sz="1400" dirty="0"/>
          </a:p>
        </p:txBody>
      </p:sp>
      <p:sp>
        <p:nvSpPr>
          <p:cNvPr id="17" name="Shape 12"/>
          <p:cNvSpPr/>
          <p:nvPr/>
        </p:nvSpPr>
        <p:spPr>
          <a:xfrm>
            <a:off x="6995160" y="2377440"/>
            <a:ext cx="365760" cy="365760"/>
          </a:xfrm>
          <a:prstGeom prst="downArrow">
            <a:avLst/>
          </a:prstGeom>
          <a:solidFill>
            <a:srgbClr val="05CE78"/>
          </a:solidFill>
          <a:ln w="12700">
            <a:solidFill>
              <a:srgbClr val="05CE78"/>
            </a:solidFill>
            <a:prstDash val="solid"/>
          </a:ln>
        </p:spPr>
      </p:sp>
      <p:sp>
        <p:nvSpPr>
          <p:cNvPr id="18" name="Shape 13"/>
          <p:cNvSpPr/>
          <p:nvPr/>
        </p:nvSpPr>
        <p:spPr>
          <a:xfrm>
            <a:off x="5669280" y="2834640"/>
            <a:ext cx="3017520" cy="731520"/>
          </a:xfrm>
          <a:prstGeom prst="roundRect">
            <a:avLst>
              <a:gd name="adj" fmla="val 15000"/>
            </a:avLst>
          </a:prstGeom>
          <a:solidFill>
            <a:srgbClr val="14513D"/>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9" name="Text 14"/>
          <p:cNvSpPr txBox="1"/>
          <p:nvPr/>
        </p:nvSpPr>
        <p:spPr>
          <a:xfrm>
            <a:off x="5669280" y="2834640"/>
            <a:ext cx="301752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Machine-learning classifier</a:t>
            </a:r>
            <a:endParaRPr lang="en-US" sz="1400" dirty="0"/>
          </a:p>
        </p:txBody>
      </p:sp>
      <p:sp>
        <p:nvSpPr>
          <p:cNvPr id="20" name="Shape 15"/>
          <p:cNvSpPr/>
          <p:nvPr/>
        </p:nvSpPr>
        <p:spPr>
          <a:xfrm>
            <a:off x="6995160" y="3657600"/>
            <a:ext cx="365760" cy="365760"/>
          </a:xfrm>
          <a:prstGeom prst="downArrow">
            <a:avLst/>
          </a:prstGeom>
          <a:solidFill>
            <a:srgbClr val="05CE78"/>
          </a:solidFill>
          <a:ln w="12700">
            <a:solidFill>
              <a:srgbClr val="05CE78"/>
            </a:solidFill>
            <a:prstDash val="solid"/>
          </a:ln>
        </p:spPr>
      </p:sp>
      <p:sp>
        <p:nvSpPr>
          <p:cNvPr id="21" name="Shape 16"/>
          <p:cNvSpPr/>
          <p:nvPr/>
        </p:nvSpPr>
        <p:spPr>
          <a:xfrm>
            <a:off x="5669280" y="4114800"/>
            <a:ext cx="1435608" cy="548640"/>
          </a:xfrm>
          <a:prstGeom prst="roundRect">
            <a:avLst>
              <a:gd name="adj" fmla="val 20000"/>
            </a:avLst>
          </a:prstGeom>
          <a:solidFill>
            <a:srgbClr val="E4F6EC"/>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22" name="Text 17"/>
          <p:cNvSpPr txBox="1"/>
          <p:nvPr/>
        </p:nvSpPr>
        <p:spPr>
          <a:xfrm>
            <a:off x="5669280" y="4114800"/>
            <a:ext cx="1435608" cy="548640"/>
          </a:xfrm>
          <a:prstGeom prst="rect">
            <a:avLst/>
          </a:prstGeom>
          <a:noFill/>
          <a:ln/>
        </p:spPr>
        <p:txBody>
          <a:bodyPr wrap="square" lIns="0" tIns="0" rIns="0" bIns="0" rtlCol="0" anchor="ctr"/>
          <a:lstStyle/>
          <a:p>
            <a:pPr algn="ctr" indent="0" marL="0">
              <a:buNone/>
            </a:pPr>
            <a:r>
              <a:rPr lang="en-US" sz="1400" b="1" dirty="0">
                <a:solidFill>
                  <a:srgbClr val="04A85F"/>
                </a:solidFill>
                <a:latin typeface="Calibri" pitchFamily="34" charset="0"/>
                <a:ea typeface="Calibri" pitchFamily="34" charset="-122"/>
                <a:cs typeface="Calibri" pitchFamily="34" charset="-120"/>
              </a:rPr>
              <a:t>Success</a:t>
            </a:r>
            <a:endParaRPr lang="en-US" sz="1400" dirty="0"/>
          </a:p>
        </p:txBody>
      </p:sp>
      <p:sp>
        <p:nvSpPr>
          <p:cNvPr id="23" name="Shape 18"/>
          <p:cNvSpPr/>
          <p:nvPr/>
        </p:nvSpPr>
        <p:spPr>
          <a:xfrm>
            <a:off x="7251192" y="4114800"/>
            <a:ext cx="1435608" cy="548640"/>
          </a:xfrm>
          <a:prstGeom prst="roundRect">
            <a:avLst>
              <a:gd name="adj" fmla="val 20000"/>
            </a:avLst>
          </a:prstGeom>
          <a:solidFill>
            <a:srgbClr val="FBEAE8"/>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24" name="Text 19"/>
          <p:cNvSpPr txBox="1"/>
          <p:nvPr/>
        </p:nvSpPr>
        <p:spPr>
          <a:xfrm>
            <a:off x="7251192" y="4114800"/>
            <a:ext cx="1435608" cy="548640"/>
          </a:xfrm>
          <a:prstGeom prst="rect">
            <a:avLst/>
          </a:prstGeom>
          <a:noFill/>
          <a:ln/>
        </p:spPr>
        <p:txBody>
          <a:bodyPr wrap="square" lIns="0" tIns="0" rIns="0" bIns="0" rtlCol="0" anchor="ctr"/>
          <a:lstStyle/>
          <a:p>
            <a:pPr algn="ctr" indent="0" marL="0">
              <a:buNone/>
            </a:pPr>
            <a:r>
              <a:rPr lang="en-US" sz="1400" b="1" dirty="0">
                <a:solidFill>
                  <a:srgbClr val="D9534F"/>
                </a:solidFill>
                <a:latin typeface="Calibri" pitchFamily="34" charset="0"/>
                <a:ea typeface="Calibri" pitchFamily="34" charset="-122"/>
                <a:cs typeface="Calibri" pitchFamily="34" charset="-120"/>
              </a:rPr>
              <a:t>Failure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0231C"/>
                </a:solidFill>
                <a:latin typeface="Cambria" pitchFamily="34" charset="0"/>
                <a:ea typeface="Cambria" pitchFamily="34" charset="-122"/>
                <a:cs typeface="Cambria" pitchFamily="34" charset="-120"/>
              </a:rPr>
              <a:t>Dataset: 20,000 synthetic campaigns</a:t>
            </a:r>
            <a:endParaRPr lang="en-US" sz="3000" dirty="0"/>
          </a:p>
        </p:txBody>
      </p:sp>
      <p:sp>
        <p:nvSpPr>
          <p:cNvPr id="3" name="Shape 1"/>
          <p:cNvSpPr/>
          <p:nvPr/>
        </p:nvSpPr>
        <p:spPr>
          <a:xfrm>
            <a:off x="457200" y="1143000"/>
            <a:ext cx="1920240" cy="1234440"/>
          </a:xfrm>
          <a:prstGeom prst="roundRect">
            <a:avLst>
              <a:gd name="adj" fmla="val 8889"/>
            </a:avLst>
          </a:prstGeom>
          <a:solidFill>
            <a:srgbClr val="F3F8F5"/>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457200" y="1234440"/>
            <a:ext cx="1920240" cy="731520"/>
          </a:xfrm>
          <a:prstGeom prst="rect">
            <a:avLst/>
          </a:prstGeom>
          <a:noFill/>
          <a:ln/>
        </p:spPr>
        <p:txBody>
          <a:bodyPr wrap="square" lIns="0" tIns="0" rIns="0" bIns="0" rtlCol="0" anchor="ctr"/>
          <a:lstStyle/>
          <a:p>
            <a:pPr algn="ctr" indent="0" marL="0">
              <a:buNone/>
            </a:pPr>
            <a:r>
              <a:rPr lang="en-US" sz="3400" b="1" dirty="0">
                <a:solidFill>
                  <a:srgbClr val="14513D"/>
                </a:solidFill>
                <a:latin typeface="Cambria" pitchFamily="34" charset="0"/>
                <a:ea typeface="Cambria" pitchFamily="34" charset="-122"/>
                <a:cs typeface="Cambria" pitchFamily="34" charset="-120"/>
              </a:rPr>
              <a:t>20,000</a:t>
            </a:r>
            <a:endParaRPr lang="en-US" sz="3400" dirty="0"/>
          </a:p>
        </p:txBody>
      </p:sp>
      <p:sp>
        <p:nvSpPr>
          <p:cNvPr id="5" name="Text 3"/>
          <p:cNvSpPr txBox="1"/>
          <p:nvPr/>
        </p:nvSpPr>
        <p:spPr>
          <a:xfrm>
            <a:off x="457200" y="1920240"/>
            <a:ext cx="1920240" cy="320040"/>
          </a:xfrm>
          <a:prstGeom prst="rect">
            <a:avLst/>
          </a:prstGeom>
          <a:noFill/>
          <a:ln/>
        </p:spPr>
        <p:txBody>
          <a:bodyPr wrap="square" lIns="0" tIns="0" rIns="0" bIns="0" rtlCol="0" anchor="ctr"/>
          <a:lstStyle/>
          <a:p>
            <a:pPr algn="ctr" indent="0" marL="0">
              <a:buNone/>
            </a:pPr>
            <a:r>
              <a:rPr lang="en-US" sz="1300" dirty="0">
                <a:solidFill>
                  <a:srgbClr val="5B6E66"/>
                </a:solidFill>
                <a:latin typeface="Calibri" pitchFamily="34" charset="0"/>
                <a:ea typeface="Calibri" pitchFamily="34" charset="-122"/>
                <a:cs typeface="Calibri" pitchFamily="34" charset="-120"/>
              </a:rPr>
              <a:t>projects</a:t>
            </a:r>
            <a:endParaRPr lang="en-US" sz="1300" dirty="0"/>
          </a:p>
        </p:txBody>
      </p:sp>
      <p:sp>
        <p:nvSpPr>
          <p:cNvPr id="6" name="Shape 4"/>
          <p:cNvSpPr/>
          <p:nvPr/>
        </p:nvSpPr>
        <p:spPr>
          <a:xfrm>
            <a:off x="2560320" y="1143000"/>
            <a:ext cx="1920240" cy="1234440"/>
          </a:xfrm>
          <a:prstGeom prst="roundRect">
            <a:avLst>
              <a:gd name="adj" fmla="val 8889"/>
            </a:avLst>
          </a:prstGeom>
          <a:solidFill>
            <a:srgbClr val="F3F8F5"/>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2560320" y="1234440"/>
            <a:ext cx="1920240" cy="731520"/>
          </a:xfrm>
          <a:prstGeom prst="rect">
            <a:avLst/>
          </a:prstGeom>
          <a:noFill/>
          <a:ln/>
        </p:spPr>
        <p:txBody>
          <a:bodyPr wrap="square" lIns="0" tIns="0" rIns="0" bIns="0" rtlCol="0" anchor="ctr"/>
          <a:lstStyle/>
          <a:p>
            <a:pPr algn="ctr" indent="0" marL="0">
              <a:buNone/>
            </a:pPr>
            <a:r>
              <a:rPr lang="en-US" sz="3400" b="1" dirty="0">
                <a:solidFill>
                  <a:srgbClr val="14513D"/>
                </a:solidFill>
                <a:latin typeface="Cambria" pitchFamily="34" charset="0"/>
                <a:ea typeface="Cambria" pitchFamily="34" charset="-122"/>
                <a:cs typeface="Cambria" pitchFamily="34" charset="-120"/>
              </a:rPr>
              <a:t>15</a:t>
            </a:r>
            <a:endParaRPr lang="en-US" sz="3400" dirty="0"/>
          </a:p>
        </p:txBody>
      </p:sp>
      <p:sp>
        <p:nvSpPr>
          <p:cNvPr id="8" name="Text 6"/>
          <p:cNvSpPr txBox="1"/>
          <p:nvPr/>
        </p:nvSpPr>
        <p:spPr>
          <a:xfrm>
            <a:off x="2560320" y="1920240"/>
            <a:ext cx="1920240" cy="320040"/>
          </a:xfrm>
          <a:prstGeom prst="rect">
            <a:avLst/>
          </a:prstGeom>
          <a:noFill/>
          <a:ln/>
        </p:spPr>
        <p:txBody>
          <a:bodyPr wrap="square" lIns="0" tIns="0" rIns="0" bIns="0" rtlCol="0" anchor="ctr"/>
          <a:lstStyle/>
          <a:p>
            <a:pPr algn="ctr" indent="0" marL="0">
              <a:buNone/>
            </a:pPr>
            <a:r>
              <a:rPr lang="en-US" sz="1300" dirty="0">
                <a:solidFill>
                  <a:srgbClr val="5B6E66"/>
                </a:solidFill>
                <a:latin typeface="Calibri" pitchFamily="34" charset="0"/>
                <a:ea typeface="Calibri" pitchFamily="34" charset="-122"/>
                <a:cs typeface="Calibri" pitchFamily="34" charset="-120"/>
              </a:rPr>
              <a:t>columns</a:t>
            </a:r>
            <a:endParaRPr lang="en-US" sz="1300" dirty="0"/>
          </a:p>
        </p:txBody>
      </p:sp>
      <p:sp>
        <p:nvSpPr>
          <p:cNvPr id="9" name="Shape 7"/>
          <p:cNvSpPr/>
          <p:nvPr/>
        </p:nvSpPr>
        <p:spPr>
          <a:xfrm>
            <a:off x="4663440" y="1143000"/>
            <a:ext cx="1920240" cy="1234440"/>
          </a:xfrm>
          <a:prstGeom prst="roundRect">
            <a:avLst>
              <a:gd name="adj" fmla="val 8889"/>
            </a:avLst>
          </a:prstGeom>
          <a:solidFill>
            <a:srgbClr val="F3F8F5"/>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4663440" y="1234440"/>
            <a:ext cx="1920240" cy="731520"/>
          </a:xfrm>
          <a:prstGeom prst="rect">
            <a:avLst/>
          </a:prstGeom>
          <a:noFill/>
          <a:ln/>
        </p:spPr>
        <p:txBody>
          <a:bodyPr wrap="square" lIns="0" tIns="0" rIns="0" bIns="0" rtlCol="0" anchor="ctr"/>
          <a:lstStyle/>
          <a:p>
            <a:pPr algn="ctr" indent="0" marL="0">
              <a:buNone/>
            </a:pPr>
            <a:r>
              <a:rPr lang="en-US" sz="3400" b="1" dirty="0">
                <a:solidFill>
                  <a:srgbClr val="14513D"/>
                </a:solidFill>
                <a:latin typeface="Cambria" pitchFamily="34" charset="0"/>
                <a:ea typeface="Cambria" pitchFamily="34" charset="-122"/>
                <a:cs typeface="Cambria" pitchFamily="34" charset="-120"/>
              </a:rPr>
              <a:t>54.8%</a:t>
            </a:r>
            <a:endParaRPr lang="en-US" sz="3400" dirty="0"/>
          </a:p>
        </p:txBody>
      </p:sp>
      <p:sp>
        <p:nvSpPr>
          <p:cNvPr id="11" name="Text 9"/>
          <p:cNvSpPr txBox="1"/>
          <p:nvPr/>
        </p:nvSpPr>
        <p:spPr>
          <a:xfrm>
            <a:off x="4663440" y="1920240"/>
            <a:ext cx="1920240" cy="320040"/>
          </a:xfrm>
          <a:prstGeom prst="rect">
            <a:avLst/>
          </a:prstGeom>
          <a:noFill/>
          <a:ln/>
        </p:spPr>
        <p:txBody>
          <a:bodyPr wrap="square" lIns="0" tIns="0" rIns="0" bIns="0" rtlCol="0" anchor="ctr"/>
          <a:lstStyle/>
          <a:p>
            <a:pPr algn="ctr" indent="0" marL="0">
              <a:buNone/>
            </a:pPr>
            <a:r>
              <a:rPr lang="en-US" sz="1300" dirty="0">
                <a:solidFill>
                  <a:srgbClr val="5B6E66"/>
                </a:solidFill>
                <a:latin typeface="Calibri" pitchFamily="34" charset="0"/>
                <a:ea typeface="Calibri" pitchFamily="34" charset="-122"/>
                <a:cs typeface="Calibri" pitchFamily="34" charset="-120"/>
              </a:rPr>
              <a:t>successful</a:t>
            </a:r>
            <a:endParaRPr lang="en-US" sz="1300" dirty="0"/>
          </a:p>
        </p:txBody>
      </p:sp>
      <p:sp>
        <p:nvSpPr>
          <p:cNvPr id="12" name="Shape 10"/>
          <p:cNvSpPr/>
          <p:nvPr/>
        </p:nvSpPr>
        <p:spPr>
          <a:xfrm>
            <a:off x="6766560" y="1143000"/>
            <a:ext cx="1920240" cy="1234440"/>
          </a:xfrm>
          <a:prstGeom prst="roundRect">
            <a:avLst>
              <a:gd name="adj" fmla="val 8889"/>
            </a:avLst>
          </a:prstGeom>
          <a:solidFill>
            <a:srgbClr val="F3F8F5"/>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766560" y="1234440"/>
            <a:ext cx="1920240" cy="731520"/>
          </a:xfrm>
          <a:prstGeom prst="rect">
            <a:avLst/>
          </a:prstGeom>
          <a:noFill/>
          <a:ln/>
        </p:spPr>
        <p:txBody>
          <a:bodyPr wrap="square" lIns="0" tIns="0" rIns="0" bIns="0" rtlCol="0" anchor="ctr"/>
          <a:lstStyle/>
          <a:p>
            <a:pPr algn="ctr" indent="0" marL="0">
              <a:buNone/>
            </a:pPr>
            <a:r>
              <a:rPr lang="en-US" sz="3400" b="1" dirty="0">
                <a:solidFill>
                  <a:srgbClr val="14513D"/>
                </a:solidFill>
                <a:latin typeface="Cambria" pitchFamily="34" charset="0"/>
                <a:ea typeface="Cambria" pitchFamily="34" charset="-122"/>
                <a:cs typeface="Cambria" pitchFamily="34" charset="-120"/>
              </a:rPr>
              <a:t>~19,000</a:t>
            </a:r>
            <a:endParaRPr lang="en-US" sz="3400" dirty="0"/>
          </a:p>
        </p:txBody>
      </p:sp>
      <p:sp>
        <p:nvSpPr>
          <p:cNvPr id="14" name="Text 12"/>
          <p:cNvSpPr txBox="1"/>
          <p:nvPr/>
        </p:nvSpPr>
        <p:spPr>
          <a:xfrm>
            <a:off x="6766560" y="1920240"/>
            <a:ext cx="1920240" cy="320040"/>
          </a:xfrm>
          <a:prstGeom prst="rect">
            <a:avLst/>
          </a:prstGeom>
          <a:noFill/>
          <a:ln/>
        </p:spPr>
        <p:txBody>
          <a:bodyPr wrap="square" lIns="0" tIns="0" rIns="0" bIns="0" rtlCol="0" anchor="ctr"/>
          <a:lstStyle/>
          <a:p>
            <a:pPr algn="ctr" indent="0" marL="0">
              <a:buNone/>
            </a:pPr>
            <a:r>
              <a:rPr lang="en-US" sz="1300" dirty="0">
                <a:solidFill>
                  <a:srgbClr val="5B6E66"/>
                </a:solidFill>
                <a:latin typeface="Calibri" pitchFamily="34" charset="0"/>
                <a:ea typeface="Calibri" pitchFamily="34" charset="-122"/>
                <a:cs typeface="Calibri" pitchFamily="34" charset="-120"/>
              </a:rPr>
              <a:t>distinct blurbs</a:t>
            </a:r>
            <a:endParaRPr lang="en-US" sz="1300" dirty="0"/>
          </a:p>
        </p:txBody>
      </p:sp>
      <p:sp>
        <p:nvSpPr>
          <p:cNvPr id="15" name="Shape 13"/>
          <p:cNvSpPr/>
          <p:nvPr/>
        </p:nvSpPr>
        <p:spPr>
          <a:xfrm>
            <a:off x="457200" y="2651760"/>
            <a:ext cx="3931920" cy="2011680"/>
          </a:xfrm>
          <a:prstGeom prst="roundRect">
            <a:avLst>
              <a:gd name="adj" fmla="val 5455"/>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640080" y="2743200"/>
            <a:ext cx="3566160" cy="320040"/>
          </a:xfrm>
          <a:prstGeom prst="rect">
            <a:avLst/>
          </a:prstGeom>
          <a:noFill/>
          <a:ln/>
        </p:spPr>
        <p:txBody>
          <a:bodyPr wrap="square" lIns="0" tIns="0" rIns="0" bIns="0" rtlCol="0" anchor="ctr"/>
          <a:lstStyle/>
          <a:p>
            <a:pPr indent="0" marL="0">
              <a:buNone/>
            </a:pPr>
            <a:r>
              <a:rPr lang="en-US" sz="1600" b="1" dirty="0">
                <a:solidFill>
                  <a:srgbClr val="10231C"/>
                </a:solidFill>
                <a:latin typeface="Calibri" pitchFamily="34" charset="0"/>
                <a:ea typeface="Calibri" pitchFamily="34" charset="-122"/>
                <a:cs typeface="Calibri" pitchFamily="34" charset="-120"/>
              </a:rPr>
              <a:t>Feature groups</a:t>
            </a:r>
            <a:endParaRPr lang="en-US" sz="1600" dirty="0"/>
          </a:p>
        </p:txBody>
      </p:sp>
      <p:sp>
        <p:nvSpPr>
          <p:cNvPr id="17" name="Text 15"/>
          <p:cNvSpPr txBox="1"/>
          <p:nvPr/>
        </p:nvSpPr>
        <p:spPr>
          <a:xfrm>
            <a:off x="640080" y="3108960"/>
            <a:ext cx="3566160" cy="1463040"/>
          </a:xfrm>
          <a:prstGeom prst="rect">
            <a:avLst/>
          </a:prstGeom>
          <a:noFill/>
          <a:ln/>
        </p:spPr>
        <p:txBody>
          <a:bodyPr wrap="square" lIns="0" tIns="0" rIns="0" bIns="0" rtlCol="0" anchor="t"/>
          <a:lstStyle/>
          <a:p>
            <a:pPr indent="0" marL="0">
              <a:spcAft>
                <a:spcPts val="500"/>
              </a:spcAft>
              <a:buNone/>
            </a:pPr>
            <a:r>
              <a:rPr lang="en-US" sz="1250" b="1" dirty="0">
                <a:solidFill>
                  <a:srgbClr val="10231C"/>
                </a:solidFill>
                <a:latin typeface="Calibri" pitchFamily="34" charset="0"/>
                <a:ea typeface="Calibri" pitchFamily="34" charset="-122"/>
                <a:cs typeface="Calibri" pitchFamily="34" charset="-120"/>
              </a:rPr>
              <a:t>Numeric: </a:t>
            </a:r>
            <a:pPr indent="0" marL="0">
              <a:spcAft>
                <a:spcPts val="500"/>
              </a:spcAft>
              <a:buNone/>
            </a:pPr>
            <a:r>
              <a:rPr lang="en-US" sz="1250" dirty="0">
                <a:solidFill>
                  <a:srgbClr val="10231C"/>
                </a:solidFill>
                <a:latin typeface="Calibri" pitchFamily="34" charset="0"/>
                <a:ea typeface="Calibri" pitchFamily="34" charset="-122"/>
                <a:cs typeface="Calibri" pitchFamily="34" charset="-120"/>
              </a:rPr>
              <a:t>goal (USD), duration, name/blurb length, launch year, month, weekday</a:t>
            </a:r>
            <a:endParaRPr lang="en-US" sz="1250" dirty="0"/>
          </a:p>
          <a:p>
            <a:pPr indent="0" marL="0">
              <a:spcAft>
                <a:spcPts val="500"/>
              </a:spcAft>
              <a:buNone/>
            </a:pPr>
            <a:r>
              <a:rPr lang="en-US" sz="1250" b="1" dirty="0">
                <a:solidFill>
                  <a:srgbClr val="10231C"/>
                </a:solidFill>
                <a:latin typeface="Calibri" pitchFamily="34" charset="0"/>
                <a:ea typeface="Calibri" pitchFamily="34" charset="-122"/>
                <a:cs typeface="Calibri" pitchFamily="34" charset="-120"/>
              </a:rPr>
              <a:t>Categorical: </a:t>
            </a:r>
            <a:pPr indent="0" marL="0">
              <a:spcAft>
                <a:spcPts val="500"/>
              </a:spcAft>
              <a:buNone/>
            </a:pPr>
            <a:r>
              <a:rPr lang="en-US" sz="1250" dirty="0">
                <a:solidFill>
                  <a:srgbClr val="10231C"/>
                </a:solidFill>
                <a:latin typeface="Calibri" pitchFamily="34" charset="0"/>
                <a:ea typeface="Calibri" pitchFamily="34" charset="-122"/>
                <a:cs typeface="Calibri" pitchFamily="34" charset="-120"/>
              </a:rPr>
              <a:t>currency, country, 15 parent and 50 sub-categories, location, location type</a:t>
            </a:r>
            <a:endParaRPr lang="en-US" sz="1250" dirty="0"/>
          </a:p>
          <a:p>
            <a:pPr indent="0" marL="0">
              <a:spcAft>
                <a:spcPts val="500"/>
              </a:spcAft>
              <a:buNone/>
            </a:pPr>
            <a:r>
              <a:rPr lang="en-US" sz="1250" b="1" dirty="0">
                <a:solidFill>
                  <a:srgbClr val="10231C"/>
                </a:solidFill>
                <a:latin typeface="Calibri" pitchFamily="34" charset="0"/>
                <a:ea typeface="Calibri" pitchFamily="34" charset="-122"/>
                <a:cs typeface="Calibri" pitchFamily="34" charset="-120"/>
              </a:rPr>
              <a:t>Text: </a:t>
            </a:r>
            <a:pPr indent="0" marL="0">
              <a:spcAft>
                <a:spcPts val="500"/>
              </a:spcAft>
              <a:buNone/>
            </a:pPr>
            <a:r>
              <a:rPr lang="en-US" sz="1250" dirty="0">
                <a:solidFill>
                  <a:srgbClr val="10231C"/>
                </a:solidFill>
                <a:latin typeface="Calibri" pitchFamily="34" charset="0"/>
                <a:ea typeface="Calibri" pitchFamily="34" charset="-122"/>
                <a:cs typeface="Calibri" pitchFamily="34" charset="-120"/>
              </a:rPr>
              <a:t>project blurb</a:t>
            </a:r>
            <a:endParaRPr lang="en-US" sz="1250" dirty="0"/>
          </a:p>
        </p:txBody>
      </p:sp>
      <p:sp>
        <p:nvSpPr>
          <p:cNvPr id="18" name="Shape 16"/>
          <p:cNvSpPr/>
          <p:nvPr/>
        </p:nvSpPr>
        <p:spPr>
          <a:xfrm>
            <a:off x="4572000" y="2651760"/>
            <a:ext cx="4114800" cy="2011680"/>
          </a:xfrm>
          <a:prstGeom prst="roundRect">
            <a:avLst>
              <a:gd name="adj" fmla="val 5455"/>
            </a:avLst>
          </a:prstGeom>
          <a:solidFill>
            <a:srgbClr val="14513D"/>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9" name="Shape 17"/>
          <p:cNvSpPr/>
          <p:nvPr/>
        </p:nvSpPr>
        <p:spPr>
          <a:xfrm>
            <a:off x="4754880" y="2788920"/>
            <a:ext cx="411480" cy="411480"/>
          </a:xfrm>
          <a:prstGeom prst="ellipse">
            <a:avLst/>
          </a:prstGeom>
          <a:solidFill>
            <a:srgbClr val="05CE78"/>
          </a:solidFill>
          <a:ln w="12700">
            <a:solidFill>
              <a:srgbClr val="05CE78"/>
            </a:solidFill>
            <a:prstDash val="solid"/>
          </a:ln>
        </p:spPr>
      </p:sp>
      <p:pic>
        <p:nvPicPr>
          <p:cNvPr id="20" name="Image 0" descr="preencoded.png">    </p:cNvPr>
          <p:cNvPicPr>
            <a:picLocks noChangeAspect="1"/>
          </p:cNvPicPr>
          <p:nvPr/>
        </p:nvPicPr>
        <p:blipFill>
          <a:blip r:embed="rId1"/>
          <a:stretch>
            <a:fillRect/>
          </a:stretch>
        </p:blipFill>
        <p:spPr>
          <a:xfrm>
            <a:off x="4857750" y="2891790"/>
            <a:ext cx="205740" cy="205740"/>
          </a:xfrm>
          <a:prstGeom prst="rect">
            <a:avLst/>
          </a:prstGeom>
        </p:spPr>
      </p:pic>
      <p:sp>
        <p:nvSpPr>
          <p:cNvPr id="21" name="Text 18"/>
          <p:cNvSpPr txBox="1"/>
          <p:nvPr/>
        </p:nvSpPr>
        <p:spPr>
          <a:xfrm>
            <a:off x="5303520" y="278892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Synthetic by design</a:t>
            </a:r>
            <a:endParaRPr lang="en-US" sz="1600" dirty="0"/>
          </a:p>
        </p:txBody>
      </p:sp>
      <p:sp>
        <p:nvSpPr>
          <p:cNvPr id="22" name="Text 19"/>
          <p:cNvSpPr txBox="1"/>
          <p:nvPr/>
        </p:nvSpPr>
        <p:spPr>
          <a:xfrm>
            <a:off x="4754880" y="3291840"/>
            <a:ext cx="374904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Generated by generate_dataset.py (seed 42), modelled on public Kickstarter trends: bigger goals fail more, extreme durations hurt, categories differ, polished blurbs beat vague hype. A hidden quality variable plus noise keeps accuracy realistic.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5"/>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0231C"/>
                </a:solidFill>
                <a:latin typeface="Cambria" pitchFamily="34" charset="0"/>
                <a:ea typeface="Cambria" pitchFamily="34" charset="-122"/>
                <a:cs typeface="Cambria" pitchFamily="34" charset="-120"/>
              </a:rPr>
              <a:t>Approach: metadata + text + topics</a:t>
            </a:r>
            <a:endParaRPr lang="en-US" sz="3000" dirty="0"/>
          </a:p>
        </p:txBody>
      </p:sp>
      <p:sp>
        <p:nvSpPr>
          <p:cNvPr id="3" name="Shape 1"/>
          <p:cNvSpPr/>
          <p:nvPr/>
        </p:nvSpPr>
        <p:spPr>
          <a:xfrm>
            <a:off x="457200" y="1143000"/>
            <a:ext cx="2606040" cy="1463040"/>
          </a:xfrm>
          <a:prstGeom prst="roundRect">
            <a:avLst>
              <a:gd name="adj" fmla="val 7500"/>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640080" y="1280160"/>
            <a:ext cx="457200" cy="457200"/>
          </a:xfrm>
          <a:prstGeom prst="ellipse">
            <a:avLst/>
          </a:prstGeom>
          <a:solidFill>
            <a:srgbClr val="05CE78"/>
          </a:solidFill>
          <a:ln w="12700">
            <a:solidFill>
              <a:srgbClr val="05CE78"/>
            </a:solidFill>
            <a:prstDash val="solid"/>
          </a:ln>
        </p:spPr>
      </p:sp>
      <p:pic>
        <p:nvPicPr>
          <p:cNvPr id="5" name="Image 0" descr="preencoded.png">    </p:cNvPr>
          <p:cNvPicPr>
            <a:picLocks noChangeAspect="1"/>
          </p:cNvPicPr>
          <p:nvPr/>
        </p:nvPicPr>
        <p:blipFill>
          <a:blip r:embed="rId1"/>
          <a:stretch>
            <a:fillRect/>
          </a:stretch>
        </p:blipFill>
        <p:spPr>
          <a:xfrm>
            <a:off x="754380" y="1394460"/>
            <a:ext cx="228600" cy="228600"/>
          </a:xfrm>
          <a:prstGeom prst="rect">
            <a:avLst/>
          </a:prstGeom>
        </p:spPr>
      </p:pic>
      <p:sp>
        <p:nvSpPr>
          <p:cNvPr id="6" name="Text 3"/>
          <p:cNvSpPr txBox="1"/>
          <p:nvPr/>
        </p:nvSpPr>
        <p:spPr>
          <a:xfrm>
            <a:off x="1234440" y="1280160"/>
            <a:ext cx="1737360" cy="457200"/>
          </a:xfrm>
          <a:prstGeom prst="rect">
            <a:avLst/>
          </a:prstGeom>
          <a:noFill/>
          <a:ln/>
        </p:spPr>
        <p:txBody>
          <a:bodyPr wrap="square" lIns="0" tIns="0" rIns="0" bIns="0" rtlCol="0" anchor="ctr"/>
          <a:lstStyle/>
          <a:p>
            <a:pPr indent="0" marL="0">
              <a:buNone/>
            </a:pPr>
            <a:r>
              <a:rPr lang="en-US" sz="1500" b="1" dirty="0">
                <a:solidFill>
                  <a:srgbClr val="10231C"/>
                </a:solidFill>
                <a:latin typeface="Calibri" pitchFamily="34" charset="0"/>
                <a:ea typeface="Calibri" pitchFamily="34" charset="-122"/>
                <a:cs typeface="Calibri" pitchFamily="34" charset="-120"/>
              </a:rPr>
              <a:t>Metadata</a:t>
            </a:r>
            <a:endParaRPr lang="en-US" sz="1500" dirty="0"/>
          </a:p>
        </p:txBody>
      </p:sp>
      <p:sp>
        <p:nvSpPr>
          <p:cNvPr id="7" name="Text 4"/>
          <p:cNvSpPr txBox="1"/>
          <p:nvPr/>
        </p:nvSpPr>
        <p:spPr>
          <a:xfrm>
            <a:off x="640080" y="1828800"/>
            <a:ext cx="2286000" cy="731520"/>
          </a:xfrm>
          <a:prstGeom prst="rect">
            <a:avLst/>
          </a:prstGeom>
          <a:noFill/>
          <a:ln/>
        </p:spPr>
        <p:txBody>
          <a:bodyPr wrap="square" lIns="0" tIns="0" rIns="0" bIns="0" rtlCol="0" anchor="t"/>
          <a:lstStyle/>
          <a:p>
            <a:pPr indent="0" marL="0">
              <a:buNone/>
            </a:pPr>
            <a:r>
              <a:rPr lang="en-US" sz="1200" dirty="0">
                <a:solidFill>
                  <a:srgbClr val="5B6E66"/>
                </a:solidFill>
                <a:latin typeface="Calibri" pitchFamily="34" charset="0"/>
                <a:ea typeface="Calibri" pitchFamily="34" charset="-122"/>
                <a:cs typeface="Calibri" pitchFamily="34" charset="-120"/>
              </a:rPr>
              <a:t>Median impute + scale numbers; one-hot encode categories</a:t>
            </a:r>
            <a:endParaRPr lang="en-US" sz="1200" dirty="0"/>
          </a:p>
        </p:txBody>
      </p:sp>
      <p:sp>
        <p:nvSpPr>
          <p:cNvPr id="8" name="Shape 5"/>
          <p:cNvSpPr/>
          <p:nvPr/>
        </p:nvSpPr>
        <p:spPr>
          <a:xfrm>
            <a:off x="3246120" y="1143000"/>
            <a:ext cx="2606040" cy="1463040"/>
          </a:xfrm>
          <a:prstGeom prst="roundRect">
            <a:avLst>
              <a:gd name="adj" fmla="val 7500"/>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3429000" y="1280160"/>
            <a:ext cx="457200" cy="457200"/>
          </a:xfrm>
          <a:prstGeom prst="ellipse">
            <a:avLst/>
          </a:prstGeom>
          <a:solidFill>
            <a:srgbClr val="05CE78"/>
          </a:solidFill>
          <a:ln w="12700">
            <a:solidFill>
              <a:srgbClr val="05CE78"/>
            </a:solidFill>
            <a:prstDash val="solid"/>
          </a:ln>
        </p:spPr>
      </p:sp>
      <p:pic>
        <p:nvPicPr>
          <p:cNvPr id="10" name="Image 1" descr="preencoded.png">    </p:cNvPr>
          <p:cNvPicPr>
            <a:picLocks noChangeAspect="1"/>
          </p:cNvPicPr>
          <p:nvPr/>
        </p:nvPicPr>
        <p:blipFill>
          <a:blip r:embed="rId2"/>
          <a:stretch>
            <a:fillRect/>
          </a:stretch>
        </p:blipFill>
        <p:spPr>
          <a:xfrm>
            <a:off x="3543300" y="1394460"/>
            <a:ext cx="228600" cy="228600"/>
          </a:xfrm>
          <a:prstGeom prst="rect">
            <a:avLst/>
          </a:prstGeom>
        </p:spPr>
      </p:pic>
      <p:sp>
        <p:nvSpPr>
          <p:cNvPr id="11" name="Text 7"/>
          <p:cNvSpPr txBox="1"/>
          <p:nvPr/>
        </p:nvSpPr>
        <p:spPr>
          <a:xfrm>
            <a:off x="4023360" y="1280160"/>
            <a:ext cx="1737360" cy="457200"/>
          </a:xfrm>
          <a:prstGeom prst="rect">
            <a:avLst/>
          </a:prstGeom>
          <a:noFill/>
          <a:ln/>
        </p:spPr>
        <p:txBody>
          <a:bodyPr wrap="square" lIns="0" tIns="0" rIns="0" bIns="0" rtlCol="0" anchor="ctr"/>
          <a:lstStyle/>
          <a:p>
            <a:pPr indent="0" marL="0">
              <a:buNone/>
            </a:pPr>
            <a:r>
              <a:rPr lang="en-US" sz="1500" b="1" dirty="0">
                <a:solidFill>
                  <a:srgbClr val="10231C"/>
                </a:solidFill>
                <a:latin typeface="Calibri" pitchFamily="34" charset="0"/>
                <a:ea typeface="Calibri" pitchFamily="34" charset="-122"/>
                <a:cs typeface="Calibri" pitchFamily="34" charset="-120"/>
              </a:rPr>
              <a:t>Text model</a:t>
            </a:r>
            <a:endParaRPr lang="en-US" sz="1500" dirty="0"/>
          </a:p>
        </p:txBody>
      </p:sp>
      <p:sp>
        <p:nvSpPr>
          <p:cNvPr id="12" name="Text 8"/>
          <p:cNvSpPr txBox="1"/>
          <p:nvPr/>
        </p:nvSpPr>
        <p:spPr>
          <a:xfrm>
            <a:off x="3429000" y="1828800"/>
            <a:ext cx="2286000" cy="731520"/>
          </a:xfrm>
          <a:prstGeom prst="rect">
            <a:avLst/>
          </a:prstGeom>
          <a:noFill/>
          <a:ln/>
        </p:spPr>
        <p:txBody>
          <a:bodyPr wrap="square" lIns="0" tIns="0" rIns="0" bIns="0" rtlCol="0" anchor="t"/>
          <a:lstStyle/>
          <a:p>
            <a:pPr indent="0" marL="0">
              <a:buNone/>
            </a:pPr>
            <a:r>
              <a:rPr lang="en-US" sz="1200" dirty="0">
                <a:solidFill>
                  <a:srgbClr val="5B6E66"/>
                </a:solidFill>
                <a:latin typeface="Calibri" pitchFamily="34" charset="0"/>
                <a:ea typeface="Calibri" pitchFamily="34" charset="-122"/>
                <a:cs typeface="Calibri" pitchFamily="34" charset="-120"/>
              </a:rPr>
              <a:t>TF-IDF + Multinomial Naive Bayes gives P(success | blurb)</a:t>
            </a:r>
            <a:endParaRPr lang="en-US" sz="1200" dirty="0"/>
          </a:p>
        </p:txBody>
      </p:sp>
      <p:sp>
        <p:nvSpPr>
          <p:cNvPr id="13" name="Shape 9"/>
          <p:cNvSpPr/>
          <p:nvPr/>
        </p:nvSpPr>
        <p:spPr>
          <a:xfrm>
            <a:off x="6035040" y="1143000"/>
            <a:ext cx="2606040" cy="1463040"/>
          </a:xfrm>
          <a:prstGeom prst="roundRect">
            <a:avLst>
              <a:gd name="adj" fmla="val 7500"/>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4" name="Shape 10"/>
          <p:cNvSpPr/>
          <p:nvPr/>
        </p:nvSpPr>
        <p:spPr>
          <a:xfrm>
            <a:off x="6217920" y="1280160"/>
            <a:ext cx="457200" cy="457200"/>
          </a:xfrm>
          <a:prstGeom prst="ellipse">
            <a:avLst/>
          </a:prstGeom>
          <a:solidFill>
            <a:srgbClr val="05CE78"/>
          </a:solidFill>
          <a:ln w="12700">
            <a:solidFill>
              <a:srgbClr val="05CE78"/>
            </a:solidFill>
            <a:prstDash val="solid"/>
          </a:ln>
        </p:spPr>
      </p:sp>
      <p:pic>
        <p:nvPicPr>
          <p:cNvPr id="15" name="Image 2" descr="preencoded.png">    </p:cNvPr>
          <p:cNvPicPr>
            <a:picLocks noChangeAspect="1"/>
          </p:cNvPicPr>
          <p:nvPr/>
        </p:nvPicPr>
        <p:blipFill>
          <a:blip r:embed="rId3"/>
          <a:stretch>
            <a:fillRect/>
          </a:stretch>
        </p:blipFill>
        <p:spPr>
          <a:xfrm>
            <a:off x="6332220" y="1394460"/>
            <a:ext cx="228600" cy="228600"/>
          </a:xfrm>
          <a:prstGeom prst="rect">
            <a:avLst/>
          </a:prstGeom>
        </p:spPr>
      </p:pic>
      <p:sp>
        <p:nvSpPr>
          <p:cNvPr id="16" name="Text 11"/>
          <p:cNvSpPr txBox="1"/>
          <p:nvPr/>
        </p:nvSpPr>
        <p:spPr>
          <a:xfrm>
            <a:off x="6812280" y="1280160"/>
            <a:ext cx="1737360" cy="457200"/>
          </a:xfrm>
          <a:prstGeom prst="rect">
            <a:avLst/>
          </a:prstGeom>
          <a:noFill/>
          <a:ln/>
        </p:spPr>
        <p:txBody>
          <a:bodyPr wrap="square" lIns="0" tIns="0" rIns="0" bIns="0" rtlCol="0" anchor="ctr"/>
          <a:lstStyle/>
          <a:p>
            <a:pPr indent="0" marL="0">
              <a:buNone/>
            </a:pPr>
            <a:r>
              <a:rPr lang="en-US" sz="1500" b="1" dirty="0">
                <a:solidFill>
                  <a:srgbClr val="10231C"/>
                </a:solidFill>
                <a:latin typeface="Calibri" pitchFamily="34" charset="0"/>
                <a:ea typeface="Calibri" pitchFamily="34" charset="-122"/>
                <a:cs typeface="Calibri" pitchFamily="34" charset="-120"/>
              </a:rPr>
              <a:t>Topics</a:t>
            </a:r>
            <a:endParaRPr lang="en-US" sz="1500" dirty="0"/>
          </a:p>
        </p:txBody>
      </p:sp>
      <p:sp>
        <p:nvSpPr>
          <p:cNvPr id="17" name="Text 12"/>
          <p:cNvSpPr txBox="1"/>
          <p:nvPr/>
        </p:nvSpPr>
        <p:spPr>
          <a:xfrm>
            <a:off x="6217920" y="1828800"/>
            <a:ext cx="2286000" cy="731520"/>
          </a:xfrm>
          <a:prstGeom prst="rect">
            <a:avLst/>
          </a:prstGeom>
          <a:noFill/>
          <a:ln/>
        </p:spPr>
        <p:txBody>
          <a:bodyPr wrap="square" lIns="0" tIns="0" rIns="0" bIns="0" rtlCol="0" anchor="t"/>
          <a:lstStyle/>
          <a:p>
            <a:pPr indent="0" marL="0">
              <a:buNone/>
            </a:pPr>
            <a:r>
              <a:rPr lang="en-US" sz="1200" dirty="0">
                <a:solidFill>
                  <a:srgbClr val="5B6E66"/>
                </a:solidFill>
                <a:latin typeface="Calibri" pitchFamily="34" charset="0"/>
                <a:ea typeface="Calibri" pitchFamily="34" charset="-122"/>
                <a:cs typeface="Calibri" pitchFamily="34" charset="-120"/>
              </a:rPr>
              <a:t>LDA with 10 topics: topic mix per project</a:t>
            </a:r>
            <a:endParaRPr lang="en-US" sz="1200" dirty="0"/>
          </a:p>
        </p:txBody>
      </p:sp>
      <p:sp>
        <p:nvSpPr>
          <p:cNvPr id="18" name="Shape 13"/>
          <p:cNvSpPr/>
          <p:nvPr/>
        </p:nvSpPr>
        <p:spPr>
          <a:xfrm>
            <a:off x="4389120" y="2679192"/>
            <a:ext cx="365760" cy="274320"/>
          </a:xfrm>
          <a:prstGeom prst="downArrow">
            <a:avLst/>
          </a:prstGeom>
          <a:solidFill>
            <a:srgbClr val="05CE78"/>
          </a:solidFill>
          <a:ln w="12700">
            <a:solidFill>
              <a:srgbClr val="05CE78"/>
            </a:solidFill>
            <a:prstDash val="solid"/>
          </a:ln>
        </p:spPr>
      </p:sp>
      <p:sp>
        <p:nvSpPr>
          <p:cNvPr id="19" name="Shape 14"/>
          <p:cNvSpPr/>
          <p:nvPr/>
        </p:nvSpPr>
        <p:spPr>
          <a:xfrm>
            <a:off x="457200" y="3017520"/>
            <a:ext cx="8229600" cy="548640"/>
          </a:xfrm>
          <a:prstGeom prst="roundRect">
            <a:avLst>
              <a:gd name="adj" fmla="val 20000"/>
            </a:avLst>
          </a:prstGeom>
          <a:solidFill>
            <a:srgbClr val="14513D"/>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20" name="Text 15"/>
          <p:cNvSpPr txBox="1"/>
          <p:nvPr/>
        </p:nvSpPr>
        <p:spPr>
          <a:xfrm>
            <a:off x="457200" y="3017520"/>
            <a:ext cx="82296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Combined feature matrix: 174 features</a:t>
            </a:r>
            <a:endParaRPr lang="en-US" sz="1500" dirty="0"/>
          </a:p>
        </p:txBody>
      </p:sp>
      <p:sp>
        <p:nvSpPr>
          <p:cNvPr id="21" name="Shape 16"/>
          <p:cNvSpPr/>
          <p:nvPr/>
        </p:nvSpPr>
        <p:spPr>
          <a:xfrm>
            <a:off x="457200" y="3794760"/>
            <a:ext cx="4023360" cy="914400"/>
          </a:xfrm>
          <a:prstGeom prst="roundRect">
            <a:avLst>
              <a:gd name="adj" fmla="val 12000"/>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22" name="Text 17"/>
          <p:cNvSpPr txBox="1"/>
          <p:nvPr/>
        </p:nvSpPr>
        <p:spPr>
          <a:xfrm>
            <a:off x="640080" y="3840480"/>
            <a:ext cx="3657600" cy="822960"/>
          </a:xfrm>
          <a:prstGeom prst="rect">
            <a:avLst/>
          </a:prstGeom>
          <a:noFill/>
          <a:ln/>
        </p:spPr>
        <p:txBody>
          <a:bodyPr wrap="square" lIns="0" tIns="0" rIns="0" bIns="0" rtlCol="0" anchor="ctr"/>
          <a:lstStyle/>
          <a:p>
            <a:pPr indent="0" marL="0">
              <a:buNone/>
            </a:pPr>
            <a:r>
              <a:rPr lang="en-US" sz="1400" b="1" dirty="0">
                <a:solidFill>
                  <a:srgbClr val="10231C"/>
                </a:solidFill>
                <a:latin typeface="Calibri" pitchFamily="34" charset="0"/>
                <a:ea typeface="Calibri" pitchFamily="34" charset="-122"/>
                <a:cs typeface="Calibri" pitchFamily="34" charset="-120"/>
              </a:rPr>
              <a:t>7 classifiers compared</a:t>
            </a:r>
            <a:endParaRPr lang="en-US" sz="1400" dirty="0"/>
          </a:p>
          <a:p>
            <a:pPr indent="0" marL="0">
              <a:buNone/>
            </a:pPr>
            <a:r>
              <a:rPr lang="en-US" sz="1150" dirty="0">
                <a:solidFill>
                  <a:srgbClr val="5B6E66"/>
                </a:solidFill>
                <a:latin typeface="Calibri" pitchFamily="34" charset="0"/>
                <a:ea typeface="Calibri" pitchFamily="34" charset="-122"/>
                <a:cs typeface="Calibri" pitchFamily="34" charset="-120"/>
              </a:rPr>
              <a:t>Logistic, L1 Logistic, Ridge, Linear SVM, Random Forest, Neural Network, Gradient Boosting</a:t>
            </a:r>
            <a:endParaRPr lang="en-US" sz="1400" dirty="0"/>
          </a:p>
        </p:txBody>
      </p:sp>
      <p:sp>
        <p:nvSpPr>
          <p:cNvPr id="23" name="Shape 18"/>
          <p:cNvSpPr/>
          <p:nvPr/>
        </p:nvSpPr>
        <p:spPr>
          <a:xfrm>
            <a:off x="4663440" y="3794760"/>
            <a:ext cx="4023360" cy="914400"/>
          </a:xfrm>
          <a:prstGeom prst="roundRect">
            <a:avLst>
              <a:gd name="adj" fmla="val 12000"/>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24" name="Text 19"/>
          <p:cNvSpPr txBox="1"/>
          <p:nvPr/>
        </p:nvSpPr>
        <p:spPr>
          <a:xfrm>
            <a:off x="4846320" y="3840480"/>
            <a:ext cx="3657600" cy="822960"/>
          </a:xfrm>
          <a:prstGeom prst="rect">
            <a:avLst/>
          </a:prstGeom>
          <a:noFill/>
          <a:ln/>
        </p:spPr>
        <p:txBody>
          <a:bodyPr wrap="square" lIns="0" tIns="0" rIns="0" bIns="0" rtlCol="0" anchor="ctr"/>
          <a:lstStyle/>
          <a:p>
            <a:pPr indent="0" marL="0">
              <a:buNone/>
            </a:pPr>
            <a:r>
              <a:rPr lang="en-US" sz="1400" b="1" dirty="0">
                <a:solidFill>
                  <a:srgbClr val="10231C"/>
                </a:solidFill>
                <a:latin typeface="Calibri" pitchFamily="34" charset="0"/>
                <a:ea typeface="Calibri" pitchFamily="34" charset="-122"/>
                <a:cs typeface="Calibri" pitchFamily="34" charset="-120"/>
              </a:rPr>
              <a:t>Gradient Boosting tuned</a:t>
            </a:r>
            <a:endParaRPr lang="en-US" sz="1400" dirty="0"/>
          </a:p>
          <a:p>
            <a:pPr indent="0" marL="0">
              <a:buNone/>
            </a:pPr>
            <a:r>
              <a:rPr lang="en-US" sz="1150" dirty="0">
                <a:solidFill>
                  <a:srgbClr val="5B6E66"/>
                </a:solidFill>
                <a:latin typeface="Calibri" pitchFamily="34" charset="0"/>
                <a:ea typeface="Calibri" pitchFamily="34" charset="-122"/>
                <a:cs typeface="Calibri" pitchFamily="34" charset="-120"/>
              </a:rPr>
              <a:t>5-fold GridSearchCV, 24 candidates (120 fits); stratified 70/30 split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0231C"/>
                </a:solidFill>
                <a:latin typeface="Cambria" pitchFamily="34" charset="0"/>
                <a:ea typeface="Cambria" pitchFamily="34" charset="-122"/>
                <a:cs typeface="Cambria" pitchFamily="34" charset="-120"/>
              </a:rPr>
              <a:t>Avoiding leakage in the stacked feature</a:t>
            </a:r>
            <a:endParaRPr lang="en-US" sz="3000" dirty="0"/>
          </a:p>
        </p:txBody>
      </p:sp>
      <p:sp>
        <p:nvSpPr>
          <p:cNvPr id="3" name="Shape 1"/>
          <p:cNvSpPr/>
          <p:nvPr/>
        </p:nvSpPr>
        <p:spPr>
          <a:xfrm>
            <a:off x="457200" y="1188720"/>
            <a:ext cx="3977640" cy="2514600"/>
          </a:xfrm>
          <a:prstGeom prst="roundRect">
            <a:avLst>
              <a:gd name="adj" fmla="val 4364"/>
            </a:avLst>
          </a:prstGeom>
          <a:solidFill>
            <a:srgbClr val="FBEAE8"/>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280160"/>
            <a:ext cx="3657600" cy="365760"/>
          </a:xfrm>
          <a:prstGeom prst="rect">
            <a:avLst/>
          </a:prstGeom>
          <a:noFill/>
          <a:ln/>
        </p:spPr>
        <p:txBody>
          <a:bodyPr wrap="square" lIns="0" tIns="0" rIns="0" bIns="0" rtlCol="0" anchor="ctr"/>
          <a:lstStyle/>
          <a:p>
            <a:pPr indent="0" marL="0">
              <a:buNone/>
            </a:pPr>
            <a:r>
              <a:rPr lang="en-US" sz="1600" b="1" dirty="0">
                <a:solidFill>
                  <a:srgbClr val="D9534F"/>
                </a:solidFill>
                <a:latin typeface="Calibri" pitchFamily="34" charset="0"/>
                <a:ea typeface="Calibri" pitchFamily="34" charset="-122"/>
                <a:cs typeface="Calibri" pitchFamily="34" charset="-120"/>
              </a:rPr>
              <a:t>In-sample (the bug we fixed)</a:t>
            </a:r>
            <a:endParaRPr lang="en-US" sz="1600" dirty="0"/>
          </a:p>
        </p:txBody>
      </p:sp>
      <p:sp>
        <p:nvSpPr>
          <p:cNvPr id="5" name="Text 3"/>
          <p:cNvSpPr txBox="1"/>
          <p:nvPr/>
        </p:nvSpPr>
        <p:spPr>
          <a:xfrm>
            <a:off x="640080" y="1737360"/>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231C"/>
                </a:solidFill>
                <a:latin typeface="Calibri" pitchFamily="34" charset="0"/>
                <a:ea typeface="Calibri" pitchFamily="34" charset="-122"/>
                <a:cs typeface="Calibri" pitchFamily="34" charset="-120"/>
              </a:rPr>
              <a:t>Naive Bayes is trained on the training rows, then scores those same rows.</a:t>
            </a:r>
            <a:endParaRPr lang="en-US" sz="1300" dirty="0"/>
          </a:p>
          <a:p>
            <a:pPr marL="342900" indent="-342900">
              <a:spcAft>
                <a:spcPts val="600"/>
              </a:spcAft>
              <a:buSzPct val="100000"/>
              <a:buChar char="•"/>
            </a:pPr>
            <a:r>
              <a:rPr lang="en-US" sz="1300" dirty="0">
                <a:solidFill>
                  <a:srgbClr val="10231C"/>
                </a:solidFill>
                <a:latin typeface="Calibri" pitchFamily="34" charset="0"/>
                <a:ea typeface="Calibri" pitchFamily="34" charset="-122"/>
                <a:cs typeface="Calibri" pitchFamily="34" charset="-120"/>
              </a:rPr>
              <a:t>Probabilities look too good because the model has seen the labels.</a:t>
            </a:r>
            <a:endParaRPr lang="en-US" sz="1300" dirty="0"/>
          </a:p>
          <a:p>
            <a:pPr marL="342900" indent="-342900">
              <a:spcAft>
                <a:spcPts val="600"/>
              </a:spcAft>
              <a:buSzPct val="100000"/>
              <a:buChar char="•"/>
            </a:pPr>
            <a:r>
              <a:rPr lang="en-US" sz="1300" dirty="0">
                <a:solidFill>
                  <a:srgbClr val="10231C"/>
                </a:solidFill>
                <a:latin typeface="Calibri" pitchFamily="34" charset="0"/>
                <a:ea typeface="Calibri" pitchFamily="34" charset="-122"/>
                <a:cs typeface="Calibri" pitchFamily="34" charset="-120"/>
              </a:rPr>
              <a:t>The downstream model over-trusts this feature and generalises worse.</a:t>
            </a:r>
            <a:endParaRPr lang="en-US" sz="1300" dirty="0"/>
          </a:p>
        </p:txBody>
      </p:sp>
      <p:sp>
        <p:nvSpPr>
          <p:cNvPr id="6" name="Shape 4"/>
          <p:cNvSpPr/>
          <p:nvPr/>
        </p:nvSpPr>
        <p:spPr>
          <a:xfrm>
            <a:off x="4709160" y="1188720"/>
            <a:ext cx="3977640" cy="2514600"/>
          </a:xfrm>
          <a:prstGeom prst="roundRect">
            <a:avLst>
              <a:gd name="adj" fmla="val 4364"/>
            </a:avLst>
          </a:prstGeom>
          <a:solidFill>
            <a:srgbClr val="E4F6EC"/>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892040" y="1280160"/>
            <a:ext cx="3657600" cy="365760"/>
          </a:xfrm>
          <a:prstGeom prst="rect">
            <a:avLst/>
          </a:prstGeom>
          <a:noFill/>
          <a:ln/>
        </p:spPr>
        <p:txBody>
          <a:bodyPr wrap="square" lIns="0" tIns="0" rIns="0" bIns="0" rtlCol="0" anchor="ctr"/>
          <a:lstStyle/>
          <a:p>
            <a:pPr indent="0" marL="0">
              <a:buNone/>
            </a:pPr>
            <a:r>
              <a:rPr lang="en-US" sz="1600" b="1" dirty="0">
                <a:solidFill>
                  <a:srgbClr val="04A85F"/>
                </a:solidFill>
                <a:latin typeface="Calibri" pitchFamily="34" charset="0"/>
                <a:ea typeface="Calibri" pitchFamily="34" charset="-122"/>
                <a:cs typeface="Calibri" pitchFamily="34" charset="-120"/>
              </a:rPr>
              <a:t>Out-of-fold (what we use)</a:t>
            </a:r>
            <a:endParaRPr lang="en-US" sz="1600" dirty="0"/>
          </a:p>
        </p:txBody>
      </p:sp>
      <p:sp>
        <p:nvSpPr>
          <p:cNvPr id="8" name="Text 6"/>
          <p:cNvSpPr txBox="1"/>
          <p:nvPr/>
        </p:nvSpPr>
        <p:spPr>
          <a:xfrm>
            <a:off x="4892040" y="1737360"/>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231C"/>
                </a:solidFill>
                <a:latin typeface="Calibri" pitchFamily="34" charset="0"/>
                <a:ea typeface="Calibri" pitchFamily="34" charset="-122"/>
                <a:cs typeface="Calibri" pitchFamily="34" charset="-120"/>
              </a:rPr>
              <a:t>5-fold cross_val_predict: each training row is scored by a model that never saw it.</a:t>
            </a:r>
            <a:endParaRPr lang="en-US" sz="1300" dirty="0"/>
          </a:p>
          <a:p>
            <a:pPr marL="342900" indent="-342900">
              <a:spcAft>
                <a:spcPts val="600"/>
              </a:spcAft>
              <a:buSzPct val="100000"/>
              <a:buChar char="•"/>
            </a:pPr>
            <a:r>
              <a:rPr lang="en-US" sz="1300" dirty="0">
                <a:solidFill>
                  <a:srgbClr val="10231C"/>
                </a:solidFill>
                <a:latin typeface="Calibri" pitchFamily="34" charset="0"/>
                <a:ea typeface="Calibri" pitchFamily="34" charset="-122"/>
                <a:cs typeface="Calibri" pitchFamily="34" charset="-120"/>
              </a:rPr>
              <a:t>Test rows use the Naive Bayes fit on the full training set.</a:t>
            </a:r>
            <a:endParaRPr lang="en-US" sz="1300" dirty="0"/>
          </a:p>
          <a:p>
            <a:pPr marL="342900" indent="-342900">
              <a:spcAft>
                <a:spcPts val="600"/>
              </a:spcAft>
              <a:buSzPct val="100000"/>
              <a:buChar char="•"/>
            </a:pPr>
            <a:r>
              <a:rPr lang="en-US" sz="1300" dirty="0">
                <a:solidFill>
                  <a:srgbClr val="10231C"/>
                </a:solidFill>
                <a:latin typeface="Calibri" pitchFamily="34" charset="0"/>
                <a:ea typeface="Calibri" pitchFamily="34" charset="-122"/>
                <a:cs typeface="Calibri" pitchFamily="34" charset="-120"/>
              </a:rPr>
              <a:t>The training signal now matches what the model sees on new projects.</a:t>
            </a:r>
            <a:endParaRPr lang="en-US" sz="1300" dirty="0"/>
          </a:p>
        </p:txBody>
      </p:sp>
      <p:sp>
        <p:nvSpPr>
          <p:cNvPr id="9" name="Shape 7"/>
          <p:cNvSpPr/>
          <p:nvPr/>
        </p:nvSpPr>
        <p:spPr>
          <a:xfrm>
            <a:off x="457200" y="3977640"/>
            <a:ext cx="548640" cy="548640"/>
          </a:xfrm>
          <a:prstGeom prst="ellipse">
            <a:avLst/>
          </a:prstGeom>
          <a:solidFill>
            <a:srgbClr val="05CE78"/>
          </a:solidFill>
          <a:ln w="12700">
            <a:solidFill>
              <a:srgbClr val="05CE78"/>
            </a:solidFill>
            <a:prstDash val="solid"/>
          </a:ln>
        </p:spPr>
      </p:sp>
      <p:pic>
        <p:nvPicPr>
          <p:cNvPr id="10" name="Image 0" descr="preencoded.png">    </p:cNvPr>
          <p:cNvPicPr>
            <a:picLocks noChangeAspect="1"/>
          </p:cNvPicPr>
          <p:nvPr/>
        </p:nvPicPr>
        <p:blipFill>
          <a:blip r:embed="rId1"/>
          <a:stretch>
            <a:fillRect/>
          </a:stretch>
        </p:blipFill>
        <p:spPr>
          <a:xfrm>
            <a:off x="594360" y="4114800"/>
            <a:ext cx="274320" cy="274320"/>
          </a:xfrm>
          <a:prstGeom prst="rect">
            <a:avLst/>
          </a:prstGeom>
        </p:spPr>
      </p:pic>
      <p:sp>
        <p:nvSpPr>
          <p:cNvPr id="11" name="Text 8"/>
          <p:cNvSpPr txBox="1"/>
          <p:nvPr/>
        </p:nvSpPr>
        <p:spPr>
          <a:xfrm>
            <a:off x="1188720" y="3931920"/>
            <a:ext cx="7498080" cy="640080"/>
          </a:xfrm>
          <a:prstGeom prst="rect">
            <a:avLst/>
          </a:prstGeom>
          <a:noFill/>
          <a:ln/>
        </p:spPr>
        <p:txBody>
          <a:bodyPr wrap="square" lIns="0" tIns="0" rIns="0" bIns="0" rtlCol="0" anchor="ctr"/>
          <a:lstStyle/>
          <a:p>
            <a:pPr indent="0" marL="0">
              <a:buNone/>
            </a:pPr>
            <a:r>
              <a:rPr lang="en-US" sz="1400" i="1" dirty="0">
                <a:solidFill>
                  <a:srgbClr val="14513D"/>
                </a:solidFill>
                <a:latin typeface="Calibri" pitchFamily="34" charset="0"/>
                <a:ea typeface="Calibri" pitchFamily="34" charset="-122"/>
                <a:cs typeface="Calibri" pitchFamily="34" charset="-120"/>
              </a:rPr>
              <a:t>Same idea as proper stacking: a model's input feature must never be computed from the label of the row it describes.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5"/>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0231C"/>
                </a:solidFill>
                <a:latin typeface="Cambria" pitchFamily="34" charset="0"/>
                <a:ea typeface="Cambria" pitchFamily="34" charset="-122"/>
                <a:cs typeface="Cambria" pitchFamily="34" charset="-120"/>
              </a:rPr>
              <a:t>Gradient Boosting leads at 71.5% accuracy</a:t>
            </a:r>
            <a:endParaRPr lang="en-US" sz="3000" dirty="0"/>
          </a:p>
        </p:txBody>
      </p:sp>
      <p:graphicFrame>
        <p:nvGraphicFramePr>
          <p:cNvPr id="3" name="Chart 0" descr=""/>
          <p:cNvGraphicFramePr/>
          <p:nvPr/>
        </p:nvGraphicFramePr>
        <p:xfrm>
          <a:off x="365760" y="1097280"/>
          <a:ext cx="5577840" cy="36576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217920" y="1188720"/>
            <a:ext cx="2468880" cy="1005840"/>
          </a:xfrm>
          <a:prstGeom prst="roundRect">
            <a:avLst>
              <a:gd name="adj" fmla="val 10909"/>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6217920" y="1261872"/>
            <a:ext cx="2468880" cy="502920"/>
          </a:xfrm>
          <a:prstGeom prst="rect">
            <a:avLst/>
          </a:prstGeom>
          <a:noFill/>
          <a:ln/>
        </p:spPr>
        <p:txBody>
          <a:bodyPr wrap="square" lIns="0" tIns="0" rIns="0" bIns="0" rtlCol="0" anchor="ctr"/>
          <a:lstStyle/>
          <a:p>
            <a:pPr algn="ctr" indent="0" marL="0">
              <a:buNone/>
            </a:pPr>
            <a:r>
              <a:rPr lang="en-US" sz="2600" b="1" dirty="0">
                <a:solidFill>
                  <a:srgbClr val="14513D"/>
                </a:solidFill>
                <a:latin typeface="Cambria" pitchFamily="34" charset="0"/>
                <a:ea typeface="Cambria" pitchFamily="34" charset="-122"/>
                <a:cs typeface="Cambria" pitchFamily="34" charset="-120"/>
              </a:rPr>
              <a:t>0.790</a:t>
            </a:r>
            <a:endParaRPr lang="en-US" sz="2600" dirty="0"/>
          </a:p>
        </p:txBody>
      </p:sp>
      <p:sp>
        <p:nvSpPr>
          <p:cNvPr id="6" name="Text 3"/>
          <p:cNvSpPr txBox="1"/>
          <p:nvPr/>
        </p:nvSpPr>
        <p:spPr>
          <a:xfrm>
            <a:off x="6309360" y="1783080"/>
            <a:ext cx="2286000" cy="365760"/>
          </a:xfrm>
          <a:prstGeom prst="rect">
            <a:avLst/>
          </a:prstGeom>
          <a:noFill/>
          <a:ln/>
        </p:spPr>
        <p:txBody>
          <a:bodyPr wrap="square" lIns="0" tIns="0" rIns="0" bIns="0" rtlCol="0" anchor="t"/>
          <a:lstStyle/>
          <a:p>
            <a:pPr algn="ctr" indent="0" marL="0">
              <a:buNone/>
            </a:pPr>
            <a:r>
              <a:rPr lang="en-US" sz="1100" dirty="0">
                <a:solidFill>
                  <a:srgbClr val="5B6E66"/>
                </a:solidFill>
                <a:latin typeface="Calibri" pitchFamily="34" charset="0"/>
                <a:ea typeface="Calibri" pitchFamily="34" charset="-122"/>
                <a:cs typeface="Calibri" pitchFamily="34" charset="-120"/>
              </a:rPr>
              <a:t>ROC-AUC, best of all models</a:t>
            </a:r>
            <a:endParaRPr lang="en-US" sz="1100" dirty="0"/>
          </a:p>
        </p:txBody>
      </p:sp>
      <p:sp>
        <p:nvSpPr>
          <p:cNvPr id="7" name="Shape 4"/>
          <p:cNvSpPr/>
          <p:nvPr/>
        </p:nvSpPr>
        <p:spPr>
          <a:xfrm>
            <a:off x="6217920" y="2377440"/>
            <a:ext cx="2468880" cy="1005840"/>
          </a:xfrm>
          <a:prstGeom prst="roundRect">
            <a:avLst>
              <a:gd name="adj" fmla="val 10909"/>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6217920" y="2450592"/>
            <a:ext cx="2468880" cy="502920"/>
          </a:xfrm>
          <a:prstGeom prst="rect">
            <a:avLst/>
          </a:prstGeom>
          <a:noFill/>
          <a:ln/>
        </p:spPr>
        <p:txBody>
          <a:bodyPr wrap="square" lIns="0" tIns="0" rIns="0" bIns="0" rtlCol="0" anchor="ctr"/>
          <a:lstStyle/>
          <a:p>
            <a:pPr algn="ctr" indent="0" marL="0">
              <a:buNone/>
            </a:pPr>
            <a:r>
              <a:rPr lang="en-US" sz="2600" b="1" dirty="0">
                <a:solidFill>
                  <a:srgbClr val="14513D"/>
                </a:solidFill>
                <a:latin typeface="Cambria" pitchFamily="34" charset="0"/>
                <a:ea typeface="Cambria" pitchFamily="34" charset="-122"/>
                <a:cs typeface="Cambria" pitchFamily="34" charset="-120"/>
              </a:rPr>
              <a:t>+16.7 pts</a:t>
            </a:r>
            <a:endParaRPr lang="en-US" sz="2600" dirty="0"/>
          </a:p>
        </p:txBody>
      </p:sp>
      <p:sp>
        <p:nvSpPr>
          <p:cNvPr id="9" name="Text 6"/>
          <p:cNvSpPr txBox="1"/>
          <p:nvPr/>
        </p:nvSpPr>
        <p:spPr>
          <a:xfrm>
            <a:off x="6309360" y="2971800"/>
            <a:ext cx="2286000" cy="365760"/>
          </a:xfrm>
          <a:prstGeom prst="rect">
            <a:avLst/>
          </a:prstGeom>
          <a:noFill/>
          <a:ln/>
        </p:spPr>
        <p:txBody>
          <a:bodyPr wrap="square" lIns="0" tIns="0" rIns="0" bIns="0" rtlCol="0" anchor="t"/>
          <a:lstStyle/>
          <a:p>
            <a:pPr algn="ctr" indent="0" marL="0">
              <a:buNone/>
            </a:pPr>
            <a:r>
              <a:rPr lang="en-US" sz="1100" dirty="0">
                <a:solidFill>
                  <a:srgbClr val="5B6E66"/>
                </a:solidFill>
                <a:latin typeface="Calibri" pitchFamily="34" charset="0"/>
                <a:ea typeface="Calibri" pitchFamily="34" charset="-122"/>
                <a:cs typeface="Calibri" pitchFamily="34" charset="-120"/>
              </a:rPr>
              <a:t>accuracy over the 54.8% baseline</a:t>
            </a:r>
            <a:endParaRPr lang="en-US" sz="1100" dirty="0"/>
          </a:p>
        </p:txBody>
      </p:sp>
      <p:sp>
        <p:nvSpPr>
          <p:cNvPr id="10" name="Shape 7"/>
          <p:cNvSpPr/>
          <p:nvPr/>
        </p:nvSpPr>
        <p:spPr>
          <a:xfrm>
            <a:off x="6217920" y="3566160"/>
            <a:ext cx="2468880" cy="1005840"/>
          </a:xfrm>
          <a:prstGeom prst="roundRect">
            <a:avLst>
              <a:gd name="adj" fmla="val 10909"/>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6217920" y="3639312"/>
            <a:ext cx="2468880" cy="502920"/>
          </a:xfrm>
          <a:prstGeom prst="rect">
            <a:avLst/>
          </a:prstGeom>
          <a:noFill/>
          <a:ln/>
        </p:spPr>
        <p:txBody>
          <a:bodyPr wrap="square" lIns="0" tIns="0" rIns="0" bIns="0" rtlCol="0" anchor="ctr"/>
          <a:lstStyle/>
          <a:p>
            <a:pPr algn="ctr" indent="0" marL="0">
              <a:buNone/>
            </a:pPr>
            <a:r>
              <a:rPr lang="en-US" sz="2600" b="1" dirty="0">
                <a:solidFill>
                  <a:srgbClr val="14513D"/>
                </a:solidFill>
                <a:latin typeface="Cambria" pitchFamily="34" charset="0"/>
                <a:ea typeface="Cambria" pitchFamily="34" charset="-122"/>
                <a:cs typeface="Cambria" pitchFamily="34" charset="-120"/>
              </a:rPr>
              <a:t>0.744</a:t>
            </a:r>
            <a:endParaRPr lang="en-US" sz="2600" dirty="0"/>
          </a:p>
        </p:txBody>
      </p:sp>
      <p:sp>
        <p:nvSpPr>
          <p:cNvPr id="12" name="Text 9"/>
          <p:cNvSpPr txBox="1"/>
          <p:nvPr/>
        </p:nvSpPr>
        <p:spPr>
          <a:xfrm>
            <a:off x="6309360" y="4160520"/>
            <a:ext cx="2286000" cy="365760"/>
          </a:xfrm>
          <a:prstGeom prst="rect">
            <a:avLst/>
          </a:prstGeom>
          <a:noFill/>
          <a:ln/>
        </p:spPr>
        <p:txBody>
          <a:bodyPr wrap="square" lIns="0" tIns="0" rIns="0" bIns="0" rtlCol="0" anchor="t"/>
          <a:lstStyle/>
          <a:p>
            <a:pPr algn="ctr" indent="0" marL="0">
              <a:buNone/>
            </a:pPr>
            <a:r>
              <a:rPr lang="en-US" sz="1100" dirty="0">
                <a:solidFill>
                  <a:srgbClr val="5B6E66"/>
                </a:solidFill>
                <a:latin typeface="Calibri" pitchFamily="34" charset="0"/>
                <a:ea typeface="Calibri" pitchFamily="34" charset="-122"/>
                <a:cs typeface="Calibri" pitchFamily="34" charset="-120"/>
              </a:rPr>
              <a:t>F1 score for Gradient Boosting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0231C"/>
                </a:solidFill>
                <a:latin typeface="Cambria" pitchFamily="34" charset="0"/>
                <a:ea typeface="Cambria" pitchFamily="34" charset="-122"/>
                <a:cs typeface="Cambria" pitchFamily="34" charset="-120"/>
              </a:rPr>
              <a:t>What drives the predictions</a:t>
            </a:r>
            <a:endParaRPr lang="en-US" sz="3000" dirty="0"/>
          </a:p>
        </p:txBody>
      </p:sp>
      <p:graphicFrame>
        <p:nvGraphicFramePr>
          <p:cNvPr id="3" name="Chart 0" descr=""/>
          <p:cNvGraphicFramePr/>
          <p:nvPr/>
        </p:nvGraphicFramePr>
        <p:xfrm>
          <a:off x="365760" y="1097280"/>
          <a:ext cx="5394960" cy="36576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989320" y="1234440"/>
            <a:ext cx="457200" cy="457200"/>
          </a:xfrm>
          <a:prstGeom prst="ellipse">
            <a:avLst/>
          </a:prstGeom>
          <a:solidFill>
            <a:srgbClr val="05CE78"/>
          </a:solidFill>
          <a:ln w="12700">
            <a:solidFill>
              <a:srgbClr val="05CE78"/>
            </a:solidFill>
            <a:prstDash val="solid"/>
          </a:ln>
        </p:spPr>
      </p:sp>
      <p:pic>
        <p:nvPicPr>
          <p:cNvPr id="5" name="Image 0" descr="preencoded.png">    </p:cNvPr>
          <p:cNvPicPr>
            <a:picLocks noChangeAspect="1"/>
          </p:cNvPicPr>
          <p:nvPr/>
        </p:nvPicPr>
        <p:blipFill>
          <a:blip r:embed="rId2"/>
          <a:stretch>
            <a:fillRect/>
          </a:stretch>
        </p:blipFill>
        <p:spPr>
          <a:xfrm>
            <a:off x="6103620" y="1348740"/>
            <a:ext cx="228600" cy="228600"/>
          </a:xfrm>
          <a:prstGeom prst="rect">
            <a:avLst/>
          </a:prstGeom>
        </p:spPr>
      </p:pic>
      <p:sp>
        <p:nvSpPr>
          <p:cNvPr id="6" name="Text 2"/>
          <p:cNvSpPr txBox="1"/>
          <p:nvPr/>
        </p:nvSpPr>
        <p:spPr>
          <a:xfrm>
            <a:off x="6583680" y="1207008"/>
            <a:ext cx="2103120" cy="274320"/>
          </a:xfrm>
          <a:prstGeom prst="rect">
            <a:avLst/>
          </a:prstGeom>
          <a:noFill/>
          <a:ln/>
        </p:spPr>
        <p:txBody>
          <a:bodyPr wrap="square" lIns="0" tIns="0" rIns="0" bIns="0" rtlCol="0" anchor="ctr"/>
          <a:lstStyle/>
          <a:p>
            <a:pPr indent="0" marL="0">
              <a:buNone/>
            </a:pPr>
            <a:r>
              <a:rPr lang="en-US" sz="1400" b="1" dirty="0">
                <a:solidFill>
                  <a:srgbClr val="10231C"/>
                </a:solidFill>
                <a:latin typeface="Calibri" pitchFamily="34" charset="0"/>
                <a:ea typeface="Calibri" pitchFamily="34" charset="-122"/>
                <a:cs typeface="Calibri" pitchFamily="34" charset="-120"/>
              </a:rPr>
              <a:t>Goal size dominates</a:t>
            </a:r>
            <a:endParaRPr lang="en-US" sz="1400" dirty="0"/>
          </a:p>
        </p:txBody>
      </p:sp>
      <p:sp>
        <p:nvSpPr>
          <p:cNvPr id="7" name="Text 3"/>
          <p:cNvSpPr txBox="1"/>
          <p:nvPr/>
        </p:nvSpPr>
        <p:spPr>
          <a:xfrm>
            <a:off x="6583680" y="1490472"/>
            <a:ext cx="2103120" cy="777240"/>
          </a:xfrm>
          <a:prstGeom prst="rect">
            <a:avLst/>
          </a:prstGeom>
          <a:noFill/>
          <a:ln/>
        </p:spPr>
        <p:txBody>
          <a:bodyPr wrap="square" lIns="0" tIns="0" rIns="0" bIns="0" rtlCol="0" anchor="t"/>
          <a:lstStyle/>
          <a:p>
            <a:pPr indent="0" marL="0">
              <a:buNone/>
            </a:pPr>
            <a:r>
              <a:rPr lang="en-US" sz="1150" dirty="0">
                <a:solidFill>
                  <a:srgbClr val="5B6E66"/>
                </a:solidFill>
                <a:latin typeface="Calibri" pitchFamily="34" charset="0"/>
                <a:ea typeface="Calibri" pitchFamily="34" charset="-122"/>
                <a:cs typeface="Calibri" pitchFamily="34" charset="-120"/>
              </a:rPr>
              <a:t>About 45% of importance: bigger goals are harder to reach.</a:t>
            </a:r>
            <a:endParaRPr lang="en-US" sz="1150" dirty="0"/>
          </a:p>
        </p:txBody>
      </p:sp>
      <p:sp>
        <p:nvSpPr>
          <p:cNvPr id="8" name="Shape 4"/>
          <p:cNvSpPr/>
          <p:nvPr/>
        </p:nvSpPr>
        <p:spPr>
          <a:xfrm>
            <a:off x="5989320" y="2423160"/>
            <a:ext cx="457200" cy="457200"/>
          </a:xfrm>
          <a:prstGeom prst="ellipse">
            <a:avLst/>
          </a:prstGeom>
          <a:solidFill>
            <a:srgbClr val="05CE78"/>
          </a:solidFill>
          <a:ln w="12700">
            <a:solidFill>
              <a:srgbClr val="05CE78"/>
            </a:solidFill>
            <a:prstDash val="solid"/>
          </a:ln>
        </p:spPr>
      </p:sp>
      <p:pic>
        <p:nvPicPr>
          <p:cNvPr id="9" name="Image 1" descr="preencoded.png">    </p:cNvPr>
          <p:cNvPicPr>
            <a:picLocks noChangeAspect="1"/>
          </p:cNvPicPr>
          <p:nvPr/>
        </p:nvPicPr>
        <p:blipFill>
          <a:blip r:embed="rId3"/>
          <a:stretch>
            <a:fillRect/>
          </a:stretch>
        </p:blipFill>
        <p:spPr>
          <a:xfrm>
            <a:off x="6103620" y="2537460"/>
            <a:ext cx="228600" cy="228600"/>
          </a:xfrm>
          <a:prstGeom prst="rect">
            <a:avLst/>
          </a:prstGeom>
        </p:spPr>
      </p:pic>
      <p:sp>
        <p:nvSpPr>
          <p:cNvPr id="10" name="Text 5"/>
          <p:cNvSpPr txBox="1"/>
          <p:nvPr/>
        </p:nvSpPr>
        <p:spPr>
          <a:xfrm>
            <a:off x="6583680" y="2395728"/>
            <a:ext cx="2103120" cy="274320"/>
          </a:xfrm>
          <a:prstGeom prst="rect">
            <a:avLst/>
          </a:prstGeom>
          <a:noFill/>
          <a:ln/>
        </p:spPr>
        <p:txBody>
          <a:bodyPr wrap="square" lIns="0" tIns="0" rIns="0" bIns="0" rtlCol="0" anchor="ctr"/>
          <a:lstStyle/>
          <a:p>
            <a:pPr indent="0" marL="0">
              <a:buNone/>
            </a:pPr>
            <a:r>
              <a:rPr lang="en-US" sz="1400" b="1" dirty="0">
                <a:solidFill>
                  <a:srgbClr val="10231C"/>
                </a:solidFill>
                <a:latin typeface="Calibri" pitchFamily="34" charset="0"/>
                <a:ea typeface="Calibri" pitchFamily="34" charset="-122"/>
                <a:cs typeface="Calibri" pitchFamily="34" charset="-120"/>
              </a:rPr>
              <a:t>Text carries real signal</a:t>
            </a:r>
            <a:endParaRPr lang="en-US" sz="1400" dirty="0"/>
          </a:p>
        </p:txBody>
      </p:sp>
      <p:sp>
        <p:nvSpPr>
          <p:cNvPr id="11" name="Text 6"/>
          <p:cNvSpPr txBox="1"/>
          <p:nvPr/>
        </p:nvSpPr>
        <p:spPr>
          <a:xfrm>
            <a:off x="6583680" y="2679192"/>
            <a:ext cx="2103120" cy="777240"/>
          </a:xfrm>
          <a:prstGeom prst="rect">
            <a:avLst/>
          </a:prstGeom>
          <a:noFill/>
          <a:ln/>
        </p:spPr>
        <p:txBody>
          <a:bodyPr wrap="square" lIns="0" tIns="0" rIns="0" bIns="0" rtlCol="0" anchor="t"/>
          <a:lstStyle/>
          <a:p>
            <a:pPr indent="0" marL="0">
              <a:buNone/>
            </a:pPr>
            <a:r>
              <a:rPr lang="en-US" sz="1150" dirty="0">
                <a:solidFill>
                  <a:srgbClr val="5B6E66"/>
                </a:solidFill>
                <a:latin typeface="Calibri" pitchFamily="34" charset="0"/>
                <a:ea typeface="Calibri" pitchFamily="34" charset="-122"/>
                <a:cs typeface="Calibri" pitchFamily="34" charset="-120"/>
              </a:rPr>
              <a:t>The Naive Bayes score is second at 17%; text alone reaches 62.1% accuracy.</a:t>
            </a:r>
            <a:endParaRPr lang="en-US" sz="1150" dirty="0"/>
          </a:p>
        </p:txBody>
      </p:sp>
      <p:sp>
        <p:nvSpPr>
          <p:cNvPr id="12" name="Shape 7"/>
          <p:cNvSpPr/>
          <p:nvPr/>
        </p:nvSpPr>
        <p:spPr>
          <a:xfrm>
            <a:off x="5989320" y="3611880"/>
            <a:ext cx="457200" cy="457200"/>
          </a:xfrm>
          <a:prstGeom prst="ellipse">
            <a:avLst/>
          </a:prstGeom>
          <a:solidFill>
            <a:srgbClr val="05CE78"/>
          </a:solidFill>
          <a:ln w="12700">
            <a:solidFill>
              <a:srgbClr val="05CE78"/>
            </a:solidFill>
            <a:prstDash val="solid"/>
          </a:ln>
        </p:spPr>
      </p:sp>
      <p:pic>
        <p:nvPicPr>
          <p:cNvPr id="13" name="Image 2" descr="preencoded.png">    </p:cNvPr>
          <p:cNvPicPr>
            <a:picLocks noChangeAspect="1"/>
          </p:cNvPicPr>
          <p:nvPr/>
        </p:nvPicPr>
        <p:blipFill>
          <a:blip r:embed="rId4"/>
          <a:stretch>
            <a:fillRect/>
          </a:stretch>
        </p:blipFill>
        <p:spPr>
          <a:xfrm>
            <a:off x="6103620" y="3726180"/>
            <a:ext cx="228600" cy="228600"/>
          </a:xfrm>
          <a:prstGeom prst="rect">
            <a:avLst/>
          </a:prstGeom>
        </p:spPr>
      </p:pic>
      <p:sp>
        <p:nvSpPr>
          <p:cNvPr id="14" name="Text 8"/>
          <p:cNvSpPr txBox="1"/>
          <p:nvPr/>
        </p:nvSpPr>
        <p:spPr>
          <a:xfrm>
            <a:off x="6583680" y="3584448"/>
            <a:ext cx="2103120" cy="274320"/>
          </a:xfrm>
          <a:prstGeom prst="rect">
            <a:avLst/>
          </a:prstGeom>
          <a:noFill/>
          <a:ln/>
        </p:spPr>
        <p:txBody>
          <a:bodyPr wrap="square" lIns="0" tIns="0" rIns="0" bIns="0" rtlCol="0" anchor="ctr"/>
          <a:lstStyle/>
          <a:p>
            <a:pPr indent="0" marL="0">
              <a:buNone/>
            </a:pPr>
            <a:r>
              <a:rPr lang="en-US" sz="1400" b="1" dirty="0">
                <a:solidFill>
                  <a:srgbClr val="10231C"/>
                </a:solidFill>
                <a:latin typeface="Calibri" pitchFamily="34" charset="0"/>
                <a:ea typeface="Calibri" pitchFamily="34" charset="-122"/>
                <a:cs typeface="Calibri" pitchFamily="34" charset="-120"/>
              </a:rPr>
              <a:t>Topics add little</a:t>
            </a:r>
            <a:endParaRPr lang="en-US" sz="1400" dirty="0"/>
          </a:p>
        </p:txBody>
      </p:sp>
      <p:sp>
        <p:nvSpPr>
          <p:cNvPr id="15" name="Text 9"/>
          <p:cNvSpPr txBox="1"/>
          <p:nvPr/>
        </p:nvSpPr>
        <p:spPr>
          <a:xfrm>
            <a:off x="6583680" y="3867912"/>
            <a:ext cx="2103120" cy="777240"/>
          </a:xfrm>
          <a:prstGeom prst="rect">
            <a:avLst/>
          </a:prstGeom>
          <a:noFill/>
          <a:ln/>
        </p:spPr>
        <p:txBody>
          <a:bodyPr wrap="square" lIns="0" tIns="0" rIns="0" bIns="0" rtlCol="0" anchor="t"/>
          <a:lstStyle/>
          <a:p>
            <a:pPr indent="0" marL="0">
              <a:buNone/>
            </a:pPr>
            <a:r>
              <a:rPr lang="en-US" sz="1150" dirty="0">
                <a:solidFill>
                  <a:srgbClr val="5B6E66"/>
                </a:solidFill>
                <a:latin typeface="Calibri" pitchFamily="34" charset="0"/>
                <a:ea typeface="Calibri" pitchFamily="34" charset="-122"/>
                <a:cs typeface="Calibri" pitchFamily="34" charset="-120"/>
              </a:rPr>
              <a:t>LDA topics are small contributors on this vocabulary.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5"/>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0231C"/>
                </a:solidFill>
                <a:latin typeface="Cambria" pitchFamily="34" charset="0"/>
                <a:ea typeface="Cambria" pitchFamily="34" charset="-122"/>
                <a:cs typeface="Cambria" pitchFamily="34" charset="-120"/>
              </a:rPr>
              <a:t>Tuning confirmed the model</a:t>
            </a:r>
            <a:endParaRPr lang="en-US" sz="3000" dirty="0"/>
          </a:p>
        </p:txBody>
      </p:sp>
      <p:sp>
        <p:nvSpPr>
          <p:cNvPr id="3" name="Shape 1"/>
          <p:cNvSpPr/>
          <p:nvPr/>
        </p:nvSpPr>
        <p:spPr>
          <a:xfrm>
            <a:off x="457200" y="1188720"/>
            <a:ext cx="3931920" cy="3474720"/>
          </a:xfrm>
          <a:prstGeom prst="roundRect">
            <a:avLst>
              <a:gd name="adj" fmla="val 3158"/>
            </a:avLst>
          </a:prstGeom>
          <a:solidFill>
            <a:srgbClr val="FFFFFF"/>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280160"/>
            <a:ext cx="3566160" cy="365760"/>
          </a:xfrm>
          <a:prstGeom prst="rect">
            <a:avLst/>
          </a:prstGeom>
          <a:noFill/>
          <a:ln/>
        </p:spPr>
        <p:txBody>
          <a:bodyPr wrap="square" lIns="0" tIns="0" rIns="0" bIns="0" rtlCol="0" anchor="ctr"/>
          <a:lstStyle/>
          <a:p>
            <a:pPr indent="0" marL="0">
              <a:buNone/>
            </a:pPr>
            <a:r>
              <a:rPr lang="en-US" sz="1500" b="1" dirty="0">
                <a:solidFill>
                  <a:srgbClr val="10231C"/>
                </a:solidFill>
                <a:latin typeface="Calibri" pitchFamily="34" charset="0"/>
                <a:ea typeface="Calibri" pitchFamily="34" charset="-122"/>
                <a:cs typeface="Calibri" pitchFamily="34" charset="-120"/>
              </a:rPr>
              <a:t>GridSearchCV (5-fold, 120 fits)</a:t>
            </a:r>
            <a:endParaRPr lang="en-US" sz="1500" dirty="0"/>
          </a:p>
        </p:txBody>
      </p:sp>
      <p:sp>
        <p:nvSpPr>
          <p:cNvPr id="5" name="Text 3"/>
          <p:cNvSpPr txBox="1"/>
          <p:nvPr/>
        </p:nvSpPr>
        <p:spPr>
          <a:xfrm>
            <a:off x="640080" y="1691640"/>
            <a:ext cx="3566160" cy="2834640"/>
          </a:xfrm>
          <a:prstGeom prst="rect">
            <a:avLst/>
          </a:prstGeom>
          <a:noFill/>
          <a:ln/>
        </p:spPr>
        <p:txBody>
          <a:bodyPr wrap="square" lIns="0" tIns="0" rIns="0" bIns="0" rtlCol="0" anchor="t"/>
          <a:lstStyle/>
          <a:p>
            <a:pPr indent="0" marL="0">
              <a:spcAft>
                <a:spcPts val="500"/>
              </a:spcAft>
              <a:buNone/>
            </a:pPr>
            <a:r>
              <a:rPr lang="en-US" sz="1250" b="1" dirty="0">
                <a:solidFill>
                  <a:srgbClr val="10231C"/>
                </a:solidFill>
                <a:latin typeface="Calibri" pitchFamily="34" charset="0"/>
                <a:ea typeface="Calibri" pitchFamily="34" charset="-122"/>
                <a:cs typeface="Calibri" pitchFamily="34" charset="-120"/>
              </a:rPr>
              <a:t>Best parameters</a:t>
            </a:r>
            <a:endParaRPr lang="en-US" sz="1250" dirty="0"/>
          </a:p>
          <a:p>
            <a:pPr indent="0" marL="0">
              <a:spcAft>
                <a:spcPts val="500"/>
              </a:spcAft>
              <a:buNone/>
            </a:pPr>
            <a:r>
              <a:rPr lang="en-US" sz="1250" dirty="0">
                <a:solidFill>
                  <a:srgbClr val="5B6E66"/>
                </a:solidFill>
                <a:latin typeface="Calibri" pitchFamily="34" charset="0"/>
                <a:ea typeface="Calibri" pitchFamily="34" charset="-122"/>
                <a:cs typeface="Calibri" pitchFamily="34" charset="-120"/>
              </a:rPr>
              <a:t>learning_rate 0.1, max_depth 3, max_features 0.5, n_estimators 100</a:t>
            </a:r>
            <a:endParaRPr lang="en-US" sz="1250" dirty="0"/>
          </a:p>
          <a:p>
            <a:pPr indent="0" marL="0">
              <a:spcAft>
                <a:spcPts val="500"/>
              </a:spcAft>
              <a:buNone/>
            </a:pPr>
            <a:r>
              <a:rPr lang="en-US" sz="600" dirty="0">
                <a:solidFill>
                  <a:srgbClr val="10231C"/>
                </a:solidFill>
                <a:latin typeface="Calibri" pitchFamily="34" charset="0"/>
                <a:ea typeface="Calibri" pitchFamily="34" charset="-122"/>
                <a:cs typeface="Calibri" pitchFamily="34" charset="-120"/>
              </a:rPr>
              <a:t> </a:t>
            </a:r>
            <a:endParaRPr lang="en-US" sz="1250" dirty="0"/>
          </a:p>
          <a:p>
            <a:pPr marL="342900" indent="-342900">
              <a:spcAft>
                <a:spcPts val="500"/>
              </a:spcAft>
              <a:buSzPct val="100000"/>
              <a:buChar char="•"/>
            </a:pPr>
            <a:r>
              <a:rPr lang="en-US" sz="1250" dirty="0">
                <a:solidFill>
                  <a:srgbClr val="10231C"/>
                </a:solidFill>
                <a:latin typeface="Calibri" pitchFamily="34" charset="0"/>
                <a:ea typeface="Calibri" pitchFamily="34" charset="-122"/>
                <a:cs typeface="Calibri" pitchFamily="34" charset="-120"/>
              </a:rPr>
              <a:t>Cross-validated accuracy: 0.714</a:t>
            </a:r>
            <a:endParaRPr lang="en-US" sz="1250" dirty="0"/>
          </a:p>
          <a:p>
            <a:pPr marL="342900" indent="-342900">
              <a:spcAft>
                <a:spcPts val="500"/>
              </a:spcAft>
              <a:buSzPct val="100000"/>
              <a:buChar char="•"/>
            </a:pPr>
            <a:r>
              <a:rPr lang="en-US" sz="1250" dirty="0">
                <a:solidFill>
                  <a:srgbClr val="10231C"/>
                </a:solidFill>
                <a:latin typeface="Calibri" pitchFamily="34" charset="0"/>
                <a:ea typeface="Calibri" pitchFamily="34" charset="-122"/>
                <a:cs typeface="Calibri" pitchFamily="34" charset="-120"/>
              </a:rPr>
              <a:t>Test accuracy: 0.712</a:t>
            </a:r>
            <a:endParaRPr lang="en-US" sz="1250" dirty="0"/>
          </a:p>
          <a:p>
            <a:pPr marL="342900" indent="-342900">
              <a:spcAft>
                <a:spcPts val="500"/>
              </a:spcAft>
              <a:buSzPct val="100000"/>
              <a:buChar char="•"/>
            </a:pPr>
            <a:r>
              <a:rPr lang="en-US" sz="1250" dirty="0">
                <a:solidFill>
                  <a:srgbClr val="10231C"/>
                </a:solidFill>
                <a:latin typeface="Calibri" pitchFamily="34" charset="0"/>
                <a:ea typeface="Calibri" pitchFamily="34" charset="-122"/>
                <a:cs typeface="Calibri" pitchFamily="34" charset="-120"/>
              </a:rPr>
              <a:t>CV and test agree, so no sign of overfitting</a:t>
            </a:r>
            <a:endParaRPr lang="en-US" sz="1250" dirty="0"/>
          </a:p>
          <a:p>
            <a:pPr marL="342900" indent="-342900">
              <a:spcAft>
                <a:spcPts val="500"/>
              </a:spcAft>
              <a:buSzPct val="100000"/>
              <a:buChar char="•"/>
            </a:pPr>
            <a:r>
              <a:rPr lang="en-US" sz="1250" dirty="0">
                <a:solidFill>
                  <a:srgbClr val="10231C"/>
                </a:solidFill>
                <a:latin typeface="Calibri" pitchFamily="34" charset="0"/>
                <a:ea typeface="Calibri" pitchFamily="34" charset="-122"/>
                <a:cs typeface="Calibri" pitchFamily="34" charset="-120"/>
              </a:rPr>
              <a:t>Tuned model matches the default (0.715): signal in the data is moderate</a:t>
            </a:r>
            <a:endParaRPr lang="en-US" sz="1250" dirty="0"/>
          </a:p>
        </p:txBody>
      </p:sp>
      <p:sp>
        <p:nvSpPr>
          <p:cNvPr id="6" name="Text 4"/>
          <p:cNvSpPr txBox="1"/>
          <p:nvPr/>
        </p:nvSpPr>
        <p:spPr>
          <a:xfrm>
            <a:off x="4663440" y="1188720"/>
            <a:ext cx="4023360" cy="365760"/>
          </a:xfrm>
          <a:prstGeom prst="rect">
            <a:avLst/>
          </a:prstGeom>
          <a:noFill/>
          <a:ln/>
        </p:spPr>
        <p:txBody>
          <a:bodyPr wrap="square" lIns="0" tIns="0" rIns="0" bIns="0" rtlCol="0" anchor="ctr"/>
          <a:lstStyle/>
          <a:p>
            <a:pPr indent="0" marL="0">
              <a:buNone/>
            </a:pPr>
            <a:r>
              <a:rPr lang="en-US" sz="1500" b="1" dirty="0">
                <a:solidFill>
                  <a:srgbClr val="10231C"/>
                </a:solidFill>
                <a:latin typeface="Calibri" pitchFamily="34" charset="0"/>
                <a:ea typeface="Calibri" pitchFamily="34" charset="-122"/>
                <a:cs typeface="Calibri" pitchFamily="34" charset="-120"/>
              </a:rPr>
              <a:t>Per-class results (tuned model)</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663440" y="1645920"/>
          <a:ext cx="4023360" cy="914400"/>
        </p:xfrm>
        <a:graphic>
          <a:graphicData uri="http://schemas.openxmlformats.org/drawingml/2006/table">
            <a:tbl>
              <a:tblPr/>
              <a:tblGrid>
                <a:gridCol w="1005840"/>
                <a:gridCol w="868680"/>
                <a:gridCol w="731520"/>
                <a:gridCol w="640080"/>
                <a:gridCol w="7772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145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145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145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145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Support</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14513D"/>
                    </a:solidFill>
                  </a:tcPr>
                </a:tc>
              </a:tr>
              <a:tr h="384048">
                <a:tc>
                  <a:txBody>
                    <a:bodyPr/>
                    <a:lstStyle/>
                    <a:p>
                      <a:pPr algn="ctr" indent="0" marL="0">
                        <a:buNone/>
                      </a:pPr>
                      <a:r>
                        <a:rPr lang="en-US" sz="1200" b="1" dirty="0">
                          <a:solidFill>
                            <a:srgbClr val="10231C"/>
                          </a:solidFill>
                          <a:latin typeface="Calibri" pitchFamily="34" charset="0"/>
                          <a:ea typeface="Calibri" pitchFamily="34" charset="-122"/>
                          <a:cs typeface="Calibri" pitchFamily="34" charset="-120"/>
                        </a:rPr>
                        <a:t>Failed</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0231C"/>
                          </a:solidFill>
                          <a:latin typeface="Calibri" pitchFamily="34" charset="0"/>
                          <a:ea typeface="Calibri" pitchFamily="34" charset="-122"/>
                          <a:cs typeface="Calibri" pitchFamily="34" charset="-120"/>
                        </a:rPr>
                        <a:t>0.69</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0231C"/>
                          </a:solidFill>
                          <a:latin typeface="Calibri" pitchFamily="34" charset="0"/>
                          <a:ea typeface="Calibri" pitchFamily="34" charset="-122"/>
                          <a:cs typeface="Calibri" pitchFamily="34" charset="-120"/>
                        </a:rPr>
                        <a:t>0.66</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0231C"/>
                          </a:solidFill>
                          <a:latin typeface="Calibri" pitchFamily="34" charset="0"/>
                          <a:ea typeface="Calibri" pitchFamily="34" charset="-122"/>
                          <a:cs typeface="Calibri" pitchFamily="34" charset="-120"/>
                        </a:rPr>
                        <a:t>0.67</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0231C"/>
                          </a:solidFill>
                          <a:latin typeface="Calibri" pitchFamily="34" charset="0"/>
                          <a:ea typeface="Calibri" pitchFamily="34" charset="-122"/>
                          <a:cs typeface="Calibri" pitchFamily="34" charset="-120"/>
                        </a:rPr>
                        <a:t>2,713</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0231C"/>
                          </a:solidFill>
                          <a:latin typeface="Calibri" pitchFamily="34" charset="0"/>
                          <a:ea typeface="Calibri" pitchFamily="34" charset="-122"/>
                          <a:cs typeface="Calibri" pitchFamily="34" charset="-120"/>
                        </a:rPr>
                        <a:t>Successful</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0231C"/>
                          </a:solidFill>
                          <a:latin typeface="Calibri" pitchFamily="34" charset="0"/>
                          <a:ea typeface="Calibri" pitchFamily="34" charset="-122"/>
                          <a:cs typeface="Calibri" pitchFamily="34" charset="-120"/>
                        </a:rPr>
                        <a:t>0.73</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0231C"/>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0231C"/>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0231C"/>
                          </a:solidFill>
                          <a:latin typeface="Calibri" pitchFamily="34" charset="0"/>
                          <a:ea typeface="Calibri" pitchFamily="34" charset="-122"/>
                          <a:cs typeface="Calibri" pitchFamily="34" charset="-120"/>
                        </a:rPr>
                        <a:t>3,287</a:t>
                      </a:r>
                      <a:endParaRPr lang="en-US" sz="1200" dirty="0">
                        <a:latin typeface="Calibri" charset="0"/>
                        <a:ea typeface="Calibri" charset="0"/>
                        <a:cs typeface="Calibri" charset="0"/>
                      </a:endParaRPr>
                    </a:p>
                  </a:txBody>
                  <a:tcPr marL="91440" marR="91440" marT="45720" marB="45720">
                    <a:lnL w="9525" cap="flat" cmpd="sng" algn="ctr">
                      <a:solidFill>
                        <a:srgbClr val="D5E3DC"/>
                      </a:solidFill>
                      <a:prstDash val="solid"/>
                      <a:round/>
                      <a:headEnd type="none" w="med" len="med"/>
                      <a:tailEnd type="none" w="med" len="med"/>
                    </a:lnL>
                    <a:lnR w="9525" cap="flat" cmpd="sng" algn="ctr">
                      <a:solidFill>
                        <a:srgbClr val="D5E3DC"/>
                      </a:solidFill>
                      <a:prstDash val="solid"/>
                      <a:round/>
                      <a:headEnd type="none" w="med" len="med"/>
                      <a:tailEnd type="none" w="med" len="med"/>
                    </a:lnR>
                    <a:lnT w="9525" cap="flat" cmpd="sng" algn="ctr">
                      <a:solidFill>
                        <a:srgbClr val="D5E3DC"/>
                      </a:solidFill>
                      <a:prstDash val="solid"/>
                      <a:round/>
                      <a:headEnd type="none" w="med" len="med"/>
                      <a:tailEnd type="none" w="med" len="med"/>
                    </a:lnT>
                    <a:lnB w="9525" cap="flat" cmpd="sng" algn="ctr">
                      <a:solidFill>
                        <a:srgbClr val="D5E3DC"/>
                      </a:solidFill>
                      <a:prstDash val="solid"/>
                      <a:round/>
                      <a:headEnd type="none" w="med" len="med"/>
                      <a:tailEnd type="none" w="med" len="med"/>
                    </a:lnB>
                    <a:solidFill>
                      <a:srgbClr val="FFFFFF"/>
                    </a:solidFill>
                  </a:tcPr>
                </a:tc>
              </a:tr>
            </a:tbl>
          </a:graphicData>
        </a:graphic>
      </p:graphicFrame>
      <p:sp>
        <p:nvSpPr>
          <p:cNvPr id="8" name="Shape 5"/>
          <p:cNvSpPr/>
          <p:nvPr/>
        </p:nvSpPr>
        <p:spPr>
          <a:xfrm>
            <a:off x="4663440" y="3063240"/>
            <a:ext cx="4023360" cy="1600200"/>
          </a:xfrm>
          <a:prstGeom prst="roundRect">
            <a:avLst>
              <a:gd name="adj" fmla="val 6857"/>
            </a:avLst>
          </a:prstGeom>
          <a:solidFill>
            <a:srgbClr val="E4F6EC"/>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4846320" y="3154680"/>
            <a:ext cx="3657600" cy="1417320"/>
          </a:xfrm>
          <a:prstGeom prst="rect">
            <a:avLst/>
          </a:prstGeom>
          <a:noFill/>
          <a:ln/>
        </p:spPr>
        <p:txBody>
          <a:bodyPr wrap="square" lIns="0" tIns="0" rIns="0" bIns="0" rtlCol="0" anchor="ctr"/>
          <a:lstStyle/>
          <a:p>
            <a:pPr indent="0" marL="0">
              <a:buNone/>
            </a:pPr>
            <a:r>
              <a:rPr lang="en-US" sz="1300" dirty="0">
                <a:solidFill>
                  <a:srgbClr val="10231C"/>
                </a:solidFill>
                <a:latin typeface="Calibri" pitchFamily="34" charset="0"/>
                <a:ea typeface="Calibri" pitchFamily="34" charset="-122"/>
                <a:cs typeface="Calibri" pitchFamily="34" charset="-120"/>
              </a:rPr>
              <a:t>The model is not just guessing "success": it finds two thirds of failures and three quarters of successes, so accuracy is not inflated by the class balance.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0231C"/>
                </a:solidFill>
                <a:latin typeface="Cambria" pitchFamily="34" charset="0"/>
                <a:ea typeface="Cambria" pitchFamily="34" charset="-122"/>
                <a:cs typeface="Cambria" pitchFamily="34" charset="-120"/>
              </a:rPr>
              <a:t>Live demo: predict_project()</a:t>
            </a:r>
            <a:endParaRPr lang="en-US" sz="3000" dirty="0"/>
          </a:p>
        </p:txBody>
      </p:sp>
      <p:sp>
        <p:nvSpPr>
          <p:cNvPr id="3" name="Shape 1"/>
          <p:cNvSpPr/>
          <p:nvPr/>
        </p:nvSpPr>
        <p:spPr>
          <a:xfrm>
            <a:off x="457200" y="1143000"/>
            <a:ext cx="4023360" cy="3566160"/>
          </a:xfrm>
          <a:prstGeom prst="roundRect">
            <a:avLst>
              <a:gd name="adj" fmla="val 3077"/>
            </a:avLst>
          </a:prstGeom>
          <a:solidFill>
            <a:srgbClr val="0B2E24"/>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371600"/>
            <a:ext cx="3566160" cy="3108960"/>
          </a:xfrm>
          <a:prstGeom prst="rect">
            <a:avLst/>
          </a:prstGeom>
          <a:noFill/>
          <a:ln/>
        </p:spPr>
        <p:txBody>
          <a:bodyPr wrap="square" lIns="0" tIns="0" rIns="0" bIns="0" rtlCol="0" anchor="t"/>
          <a:lstStyle/>
          <a:p>
            <a:pPr indent="0" marL="0">
              <a:buNone/>
            </a:pPr>
            <a:r>
              <a:rPr lang="en-US" sz="1150" dirty="0">
                <a:solidFill>
                  <a:srgbClr val="05CE78"/>
                </a:solidFill>
                <a:latin typeface="Courier New" pitchFamily="34" charset="0"/>
                <a:ea typeface="Courier New" pitchFamily="34" charset="-122"/>
                <a:cs typeface="Courier New" pitchFamily="34" charset="-120"/>
              </a:rPr>
              <a:t>predict_project(</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name="Vague idea",</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blurb="We hope to make it happen</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someday, please help us...",</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goal_usd=90000,</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launch_date="2026-12-10",</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deadline="2027-02-20",</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country="US", currency="USD",</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parent_category="Technology",</a:t>
            </a:r>
            <a:endParaRPr lang="en-US" sz="1150" dirty="0"/>
          </a:p>
          <a:p>
            <a:pPr indent="0" marL="0">
              <a:buNone/>
            </a:pPr>
            <a:r>
              <a:rPr lang="en-US" sz="1150" dirty="0">
                <a:solidFill>
                  <a:srgbClr val="05CE78"/>
                </a:solidFill>
                <a:latin typeface="Courier New" pitchFamily="34" charset="0"/>
                <a:ea typeface="Courier New" pitchFamily="34" charset="-122"/>
                <a:cs typeface="Courier New" pitchFamily="34" charset="-120"/>
              </a:rPr>
              <a:t>  category="Gadgets", ...)</a:t>
            </a:r>
            <a:endParaRPr lang="en-US" sz="1150" dirty="0"/>
          </a:p>
        </p:txBody>
      </p:sp>
      <p:sp>
        <p:nvSpPr>
          <p:cNvPr id="5" name="Shape 3"/>
          <p:cNvSpPr/>
          <p:nvPr/>
        </p:nvSpPr>
        <p:spPr>
          <a:xfrm>
            <a:off x="4709160" y="1143000"/>
            <a:ext cx="3977640" cy="1069848"/>
          </a:xfrm>
          <a:prstGeom prst="roundRect">
            <a:avLst>
              <a:gd name="adj" fmla="val 10256"/>
            </a:avLst>
          </a:prstGeom>
          <a:solidFill>
            <a:srgbClr val="E4F6EC"/>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4892040" y="1234440"/>
            <a:ext cx="2377440" cy="274320"/>
          </a:xfrm>
          <a:prstGeom prst="rect">
            <a:avLst/>
          </a:prstGeom>
          <a:noFill/>
          <a:ln/>
        </p:spPr>
        <p:txBody>
          <a:bodyPr wrap="square" lIns="0" tIns="0" rIns="0" bIns="0" rtlCol="0" anchor="ctr"/>
          <a:lstStyle/>
          <a:p>
            <a:pPr indent="0" marL="0">
              <a:buNone/>
            </a:pPr>
            <a:r>
              <a:rPr lang="en-US" sz="1300" b="1" dirty="0">
                <a:solidFill>
                  <a:srgbClr val="10231C"/>
                </a:solidFill>
                <a:latin typeface="Calibri" pitchFamily="34" charset="0"/>
                <a:ea typeface="Calibri" pitchFamily="34" charset="-122"/>
                <a:cs typeface="Calibri" pitchFamily="34" charset="-120"/>
              </a:rPr>
              <a:t>Tour album: Music / Pop</a:t>
            </a:r>
            <a:endParaRPr lang="en-US" sz="1300" dirty="0"/>
          </a:p>
        </p:txBody>
      </p:sp>
      <p:sp>
        <p:nvSpPr>
          <p:cNvPr id="7" name="Text 5"/>
          <p:cNvSpPr txBox="1"/>
          <p:nvPr/>
        </p:nvSpPr>
        <p:spPr>
          <a:xfrm>
            <a:off x="4892040" y="1527048"/>
            <a:ext cx="2377440" cy="594360"/>
          </a:xfrm>
          <a:prstGeom prst="rect">
            <a:avLst/>
          </a:prstGeom>
          <a:noFill/>
          <a:ln/>
        </p:spPr>
        <p:txBody>
          <a:bodyPr wrap="square" lIns="0" tIns="0" rIns="0" bIns="0" rtlCol="0" anchor="t"/>
          <a:lstStyle/>
          <a:p>
            <a:pPr indent="0" marL="0">
              <a:buNone/>
            </a:pPr>
            <a:r>
              <a:rPr lang="en-US" sz="1100" dirty="0">
                <a:solidFill>
                  <a:srgbClr val="5B6E66"/>
                </a:solidFill>
                <a:latin typeface="Calibri" pitchFamily="34" charset="0"/>
                <a:ea typeface="Calibri" pitchFamily="34" charset="-122"/>
                <a:cs typeface="Calibri" pitchFamily="34" charset="-120"/>
              </a:rPr>
              <a:t>$4,000, 30 days, specific blurb</a:t>
            </a:r>
            <a:endParaRPr lang="en-US" sz="1100" dirty="0"/>
          </a:p>
        </p:txBody>
      </p:sp>
      <p:sp>
        <p:nvSpPr>
          <p:cNvPr id="8" name="Text 6"/>
          <p:cNvSpPr txBox="1"/>
          <p:nvPr/>
        </p:nvSpPr>
        <p:spPr>
          <a:xfrm>
            <a:off x="7315200" y="1325880"/>
            <a:ext cx="1280160" cy="411480"/>
          </a:xfrm>
          <a:prstGeom prst="rect">
            <a:avLst/>
          </a:prstGeom>
          <a:noFill/>
          <a:ln/>
        </p:spPr>
        <p:txBody>
          <a:bodyPr wrap="square" lIns="0" tIns="0" rIns="0" bIns="0" rtlCol="0" anchor="ctr"/>
          <a:lstStyle/>
          <a:p>
            <a:pPr algn="ctr" indent="0" marL="0">
              <a:buNone/>
            </a:pPr>
            <a:r>
              <a:rPr lang="en-US" sz="1800" b="1" dirty="0">
                <a:solidFill>
                  <a:srgbClr val="04A85F"/>
                </a:solidFill>
                <a:latin typeface="Cambria" pitchFamily="34" charset="0"/>
                <a:ea typeface="Cambria" pitchFamily="34" charset="-122"/>
                <a:cs typeface="Cambria" pitchFamily="34" charset="-120"/>
              </a:rPr>
              <a:t>SUCCESS</a:t>
            </a:r>
            <a:endParaRPr lang="en-US" sz="1800" dirty="0"/>
          </a:p>
        </p:txBody>
      </p:sp>
      <p:sp>
        <p:nvSpPr>
          <p:cNvPr id="9" name="Text 7"/>
          <p:cNvSpPr txBox="1"/>
          <p:nvPr/>
        </p:nvSpPr>
        <p:spPr>
          <a:xfrm>
            <a:off x="7315200" y="1737360"/>
            <a:ext cx="1280160" cy="320040"/>
          </a:xfrm>
          <a:prstGeom prst="rect">
            <a:avLst/>
          </a:prstGeom>
          <a:noFill/>
          <a:ln/>
        </p:spPr>
        <p:txBody>
          <a:bodyPr wrap="square" lIns="0" tIns="0" rIns="0" bIns="0" rtlCol="0" anchor="ctr"/>
          <a:lstStyle/>
          <a:p>
            <a:pPr algn="ctr" indent="0" marL="0">
              <a:buNone/>
            </a:pPr>
            <a:r>
              <a:rPr lang="en-US" sz="1100" dirty="0">
                <a:solidFill>
                  <a:srgbClr val="10231C"/>
                </a:solidFill>
                <a:latin typeface="Calibri" pitchFamily="34" charset="0"/>
                <a:ea typeface="Calibri" pitchFamily="34" charset="-122"/>
                <a:cs typeface="Calibri" pitchFamily="34" charset="-120"/>
              </a:rPr>
              <a:t>82.7% success</a:t>
            </a:r>
            <a:endParaRPr lang="en-US" sz="1100" dirty="0"/>
          </a:p>
        </p:txBody>
      </p:sp>
      <p:sp>
        <p:nvSpPr>
          <p:cNvPr id="10" name="Shape 8"/>
          <p:cNvSpPr/>
          <p:nvPr/>
        </p:nvSpPr>
        <p:spPr>
          <a:xfrm>
            <a:off x="4709160" y="2359152"/>
            <a:ext cx="3977640" cy="1069848"/>
          </a:xfrm>
          <a:prstGeom prst="roundRect">
            <a:avLst>
              <a:gd name="adj" fmla="val 10256"/>
            </a:avLst>
          </a:prstGeom>
          <a:solidFill>
            <a:srgbClr val="FBEAE8"/>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4892040" y="2450592"/>
            <a:ext cx="2377440" cy="274320"/>
          </a:xfrm>
          <a:prstGeom prst="rect">
            <a:avLst/>
          </a:prstGeom>
          <a:noFill/>
          <a:ln/>
        </p:spPr>
        <p:txBody>
          <a:bodyPr wrap="square" lIns="0" tIns="0" rIns="0" bIns="0" rtlCol="0" anchor="ctr"/>
          <a:lstStyle/>
          <a:p>
            <a:pPr indent="0" marL="0">
              <a:buNone/>
            </a:pPr>
            <a:r>
              <a:rPr lang="en-US" sz="1300" b="1" dirty="0">
                <a:solidFill>
                  <a:srgbClr val="10231C"/>
                </a:solidFill>
                <a:latin typeface="Calibri" pitchFamily="34" charset="0"/>
                <a:ea typeface="Calibri" pitchFamily="34" charset="-122"/>
                <a:cs typeface="Calibri" pitchFamily="34" charset="-120"/>
              </a:rPr>
              <a:t>Vague idea: Technology / Gadgets</a:t>
            </a:r>
            <a:endParaRPr lang="en-US" sz="1300" dirty="0"/>
          </a:p>
        </p:txBody>
      </p:sp>
      <p:sp>
        <p:nvSpPr>
          <p:cNvPr id="12" name="Text 10"/>
          <p:cNvSpPr txBox="1"/>
          <p:nvPr/>
        </p:nvSpPr>
        <p:spPr>
          <a:xfrm>
            <a:off x="4892040" y="2743200"/>
            <a:ext cx="2377440" cy="594360"/>
          </a:xfrm>
          <a:prstGeom prst="rect">
            <a:avLst/>
          </a:prstGeom>
          <a:noFill/>
          <a:ln/>
        </p:spPr>
        <p:txBody>
          <a:bodyPr wrap="square" lIns="0" tIns="0" rIns="0" bIns="0" rtlCol="0" anchor="t"/>
          <a:lstStyle/>
          <a:p>
            <a:pPr indent="0" marL="0">
              <a:buNone/>
            </a:pPr>
            <a:r>
              <a:rPr lang="en-US" sz="1100" dirty="0">
                <a:solidFill>
                  <a:srgbClr val="5B6E66"/>
                </a:solidFill>
                <a:latin typeface="Calibri" pitchFamily="34" charset="0"/>
                <a:ea typeface="Calibri" pitchFamily="34" charset="-122"/>
                <a:cs typeface="Calibri" pitchFamily="34" charset="-120"/>
              </a:rPr>
              <a:t>$90,000, 72 days, hype-only blurb</a:t>
            </a:r>
            <a:endParaRPr lang="en-US" sz="1100" dirty="0"/>
          </a:p>
        </p:txBody>
      </p:sp>
      <p:sp>
        <p:nvSpPr>
          <p:cNvPr id="13" name="Text 11"/>
          <p:cNvSpPr txBox="1"/>
          <p:nvPr/>
        </p:nvSpPr>
        <p:spPr>
          <a:xfrm>
            <a:off x="7315200" y="2542032"/>
            <a:ext cx="1280160" cy="411480"/>
          </a:xfrm>
          <a:prstGeom prst="rect">
            <a:avLst/>
          </a:prstGeom>
          <a:noFill/>
          <a:ln/>
        </p:spPr>
        <p:txBody>
          <a:bodyPr wrap="square" lIns="0" tIns="0" rIns="0" bIns="0" rtlCol="0" anchor="ctr"/>
          <a:lstStyle/>
          <a:p>
            <a:pPr algn="ctr" indent="0" marL="0">
              <a:buNone/>
            </a:pPr>
            <a:r>
              <a:rPr lang="en-US" sz="1800" b="1" dirty="0">
                <a:solidFill>
                  <a:srgbClr val="D9534F"/>
                </a:solidFill>
                <a:latin typeface="Cambria" pitchFamily="34" charset="0"/>
                <a:ea typeface="Cambria" pitchFamily="34" charset="-122"/>
                <a:cs typeface="Cambria" pitchFamily="34" charset="-120"/>
              </a:rPr>
              <a:t>FAILURE</a:t>
            </a:r>
            <a:endParaRPr lang="en-US" sz="1800" dirty="0"/>
          </a:p>
        </p:txBody>
      </p:sp>
      <p:sp>
        <p:nvSpPr>
          <p:cNvPr id="14" name="Text 12"/>
          <p:cNvSpPr txBox="1"/>
          <p:nvPr/>
        </p:nvSpPr>
        <p:spPr>
          <a:xfrm>
            <a:off x="7315200" y="2953512"/>
            <a:ext cx="1280160" cy="320040"/>
          </a:xfrm>
          <a:prstGeom prst="rect">
            <a:avLst/>
          </a:prstGeom>
          <a:noFill/>
          <a:ln/>
        </p:spPr>
        <p:txBody>
          <a:bodyPr wrap="square" lIns="0" tIns="0" rIns="0" bIns="0" rtlCol="0" anchor="ctr"/>
          <a:lstStyle/>
          <a:p>
            <a:pPr algn="ctr" indent="0" marL="0">
              <a:buNone/>
            </a:pPr>
            <a:r>
              <a:rPr lang="en-US" sz="1100" dirty="0">
                <a:solidFill>
                  <a:srgbClr val="10231C"/>
                </a:solidFill>
                <a:latin typeface="Calibri" pitchFamily="34" charset="0"/>
                <a:ea typeface="Calibri" pitchFamily="34" charset="-122"/>
                <a:cs typeface="Calibri" pitchFamily="34" charset="-120"/>
              </a:rPr>
              <a:t>90.4% failure</a:t>
            </a:r>
            <a:endParaRPr lang="en-US" sz="1100" dirty="0"/>
          </a:p>
        </p:txBody>
      </p:sp>
      <p:sp>
        <p:nvSpPr>
          <p:cNvPr id="15" name="Shape 13"/>
          <p:cNvSpPr/>
          <p:nvPr/>
        </p:nvSpPr>
        <p:spPr>
          <a:xfrm>
            <a:off x="4709160" y="3575304"/>
            <a:ext cx="3977640" cy="1069848"/>
          </a:xfrm>
          <a:prstGeom prst="roundRect">
            <a:avLst>
              <a:gd name="adj" fmla="val 10256"/>
            </a:avLst>
          </a:prstGeom>
          <a:solidFill>
            <a:srgbClr val="E4F6EC"/>
          </a:solidFill>
          <a:ln w="9525">
            <a:solidFill>
              <a:srgbClr val="D5E3DC"/>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4892040" y="3666744"/>
            <a:ext cx="2377440" cy="274320"/>
          </a:xfrm>
          <a:prstGeom prst="rect">
            <a:avLst/>
          </a:prstGeom>
          <a:noFill/>
          <a:ln/>
        </p:spPr>
        <p:txBody>
          <a:bodyPr wrap="square" lIns="0" tIns="0" rIns="0" bIns="0" rtlCol="0" anchor="ctr"/>
          <a:lstStyle/>
          <a:p>
            <a:pPr indent="0" marL="0">
              <a:buNone/>
            </a:pPr>
            <a:r>
              <a:rPr lang="en-US" sz="1300" b="1" dirty="0">
                <a:solidFill>
                  <a:srgbClr val="10231C"/>
                </a:solidFill>
                <a:latin typeface="Calibri" pitchFamily="34" charset="0"/>
                <a:ea typeface="Calibri" pitchFamily="34" charset="-122"/>
                <a:cs typeface="Calibri" pitchFamily="34" charset="-120"/>
              </a:rPr>
              <a:t>Smart Eco Travel Bottle</a:t>
            </a:r>
            <a:endParaRPr lang="en-US" sz="1300" dirty="0"/>
          </a:p>
        </p:txBody>
      </p:sp>
      <p:sp>
        <p:nvSpPr>
          <p:cNvPr id="17" name="Text 15"/>
          <p:cNvSpPr txBox="1"/>
          <p:nvPr/>
        </p:nvSpPr>
        <p:spPr>
          <a:xfrm>
            <a:off x="4892040" y="3959352"/>
            <a:ext cx="2377440" cy="594360"/>
          </a:xfrm>
          <a:prstGeom prst="rect">
            <a:avLst/>
          </a:prstGeom>
          <a:noFill/>
          <a:ln/>
        </p:spPr>
        <p:txBody>
          <a:bodyPr wrap="square" lIns="0" tIns="0" rIns="0" bIns="0" rtlCol="0" anchor="t"/>
          <a:lstStyle/>
          <a:p>
            <a:pPr indent="0" marL="0">
              <a:buNone/>
            </a:pPr>
            <a:r>
              <a:rPr lang="en-US" sz="1100" dirty="0">
                <a:solidFill>
                  <a:srgbClr val="5B6E66"/>
                </a:solidFill>
                <a:latin typeface="Calibri" pitchFamily="34" charset="0"/>
                <a:ea typeface="Calibri" pitchFamily="34" charset="-122"/>
                <a:cs typeface="Calibri" pitchFamily="34" charset="-120"/>
              </a:rPr>
              <a:t>$5,000, 45 days (notebook example)</a:t>
            </a:r>
            <a:endParaRPr lang="en-US" sz="1100" dirty="0"/>
          </a:p>
        </p:txBody>
      </p:sp>
      <p:sp>
        <p:nvSpPr>
          <p:cNvPr id="18" name="Text 16"/>
          <p:cNvSpPr txBox="1"/>
          <p:nvPr/>
        </p:nvSpPr>
        <p:spPr>
          <a:xfrm>
            <a:off x="7315200" y="3758184"/>
            <a:ext cx="1280160" cy="411480"/>
          </a:xfrm>
          <a:prstGeom prst="rect">
            <a:avLst/>
          </a:prstGeom>
          <a:noFill/>
          <a:ln/>
        </p:spPr>
        <p:txBody>
          <a:bodyPr wrap="square" lIns="0" tIns="0" rIns="0" bIns="0" rtlCol="0" anchor="ctr"/>
          <a:lstStyle/>
          <a:p>
            <a:pPr algn="ctr" indent="0" marL="0">
              <a:buNone/>
            </a:pPr>
            <a:r>
              <a:rPr lang="en-US" sz="1800" b="1" dirty="0">
                <a:solidFill>
                  <a:srgbClr val="04A85F"/>
                </a:solidFill>
                <a:latin typeface="Cambria" pitchFamily="34" charset="0"/>
                <a:ea typeface="Cambria" pitchFamily="34" charset="-122"/>
                <a:cs typeface="Cambria" pitchFamily="34" charset="-120"/>
              </a:rPr>
              <a:t>SUCCESS</a:t>
            </a:r>
            <a:endParaRPr lang="en-US" sz="1800" dirty="0"/>
          </a:p>
        </p:txBody>
      </p:sp>
      <p:sp>
        <p:nvSpPr>
          <p:cNvPr id="19" name="Text 17"/>
          <p:cNvSpPr txBox="1"/>
          <p:nvPr/>
        </p:nvSpPr>
        <p:spPr>
          <a:xfrm>
            <a:off x="7315200" y="4169664"/>
            <a:ext cx="1280160" cy="320040"/>
          </a:xfrm>
          <a:prstGeom prst="rect">
            <a:avLst/>
          </a:prstGeom>
          <a:noFill/>
          <a:ln/>
        </p:spPr>
        <p:txBody>
          <a:bodyPr wrap="square" lIns="0" tIns="0" rIns="0" bIns="0" rtlCol="0" anchor="ctr"/>
          <a:lstStyle/>
          <a:p>
            <a:pPr algn="ctr" indent="0" marL="0">
              <a:buNone/>
            </a:pPr>
            <a:r>
              <a:rPr lang="en-US" sz="1100" dirty="0">
                <a:solidFill>
                  <a:srgbClr val="10231C"/>
                </a:solidFill>
                <a:latin typeface="Calibri" pitchFamily="34" charset="0"/>
                <a:ea typeface="Calibri" pitchFamily="34" charset="-122"/>
                <a:cs typeface="Calibri" pitchFamily="34" charset="-120"/>
              </a:rPr>
              <a:t>70.4% success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E24"/>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Conclusions</a:t>
            </a:r>
            <a:endParaRPr lang="en-US" sz="3000" dirty="0"/>
          </a:p>
        </p:txBody>
      </p:sp>
      <p:sp>
        <p:nvSpPr>
          <p:cNvPr id="3" name="Text 1"/>
          <p:cNvSpPr txBox="1"/>
          <p:nvPr/>
        </p:nvSpPr>
        <p:spPr>
          <a:xfrm>
            <a:off x="457200" y="1188720"/>
            <a:ext cx="3931920" cy="365760"/>
          </a:xfrm>
          <a:prstGeom prst="rect">
            <a:avLst/>
          </a:prstGeom>
          <a:noFill/>
          <a:ln/>
        </p:spPr>
        <p:txBody>
          <a:bodyPr wrap="square" lIns="0" tIns="0" rIns="0" bIns="0" rtlCol="0" anchor="ctr"/>
          <a:lstStyle/>
          <a:p>
            <a:pPr indent="0" marL="0">
              <a:buNone/>
            </a:pPr>
            <a:r>
              <a:rPr lang="en-US" sz="1700" b="1" dirty="0">
                <a:solidFill>
                  <a:srgbClr val="05CE78"/>
                </a:solidFill>
                <a:latin typeface="Calibri" pitchFamily="34" charset="0"/>
                <a:ea typeface="Calibri" pitchFamily="34" charset="-122"/>
                <a:cs typeface="Calibri" pitchFamily="34" charset="-120"/>
              </a:rPr>
              <a:t>What we learned</a:t>
            </a:r>
            <a:endParaRPr lang="en-US" sz="1700" dirty="0"/>
          </a:p>
        </p:txBody>
      </p:sp>
      <p:sp>
        <p:nvSpPr>
          <p:cNvPr id="4" name="Text 2"/>
          <p:cNvSpPr txBox="1"/>
          <p:nvPr/>
        </p:nvSpPr>
        <p:spPr>
          <a:xfrm>
            <a:off x="457200" y="164592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Metadata + Naive Bayes text score + LDA topics in Gradient Boosting reached 71.5% accuracy, AUC 0.79 (baseline 54.8%).</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Funding goal and blurb content are the most informative launch-time signals.</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Out-of-fold stacking keeps the evaluation honest.</a:t>
            </a:r>
            <a:endParaRPr lang="en-US" sz="1350" dirty="0"/>
          </a:p>
        </p:txBody>
      </p:sp>
      <p:sp>
        <p:nvSpPr>
          <p:cNvPr id="5" name="Text 3"/>
          <p:cNvSpPr txBox="1"/>
          <p:nvPr/>
        </p:nvSpPr>
        <p:spPr>
          <a:xfrm>
            <a:off x="4754880" y="1188720"/>
            <a:ext cx="3931920" cy="365760"/>
          </a:xfrm>
          <a:prstGeom prst="rect">
            <a:avLst/>
          </a:prstGeom>
          <a:noFill/>
          <a:ln/>
        </p:spPr>
        <p:txBody>
          <a:bodyPr wrap="square" lIns="0" tIns="0" rIns="0" bIns="0" rtlCol="0" anchor="ctr"/>
          <a:lstStyle/>
          <a:p>
            <a:pPr indent="0" marL="0">
              <a:buNone/>
            </a:pPr>
            <a:r>
              <a:rPr lang="en-US" sz="1700" b="1" dirty="0">
                <a:solidFill>
                  <a:srgbClr val="05CE78"/>
                </a:solidFill>
                <a:latin typeface="Calibri" pitchFamily="34" charset="0"/>
                <a:ea typeface="Calibri" pitchFamily="34" charset="-122"/>
                <a:cs typeface="Calibri" pitchFamily="34" charset="-120"/>
              </a:rPr>
              <a:t>Limitations and next steps</a:t>
            </a:r>
            <a:endParaRPr lang="en-US" sz="1700" dirty="0"/>
          </a:p>
        </p:txBody>
      </p:sp>
      <p:sp>
        <p:nvSpPr>
          <p:cNvPr id="6" name="Text 4"/>
          <p:cNvSpPr txBox="1"/>
          <p:nvPr/>
        </p:nvSpPr>
        <p:spPr>
          <a:xfrm>
            <a:off x="4754880" y="164592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Data is synthetic: rerun the pipeline on real Kickstarter data (e.g. the Web Robots scrape).</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Try word embeddings or transformer text features.</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Add probability calibration; consider images and video.</a:t>
            </a:r>
            <a:endParaRPr lang="en-US" sz="1350" dirty="0"/>
          </a:p>
        </p:txBody>
      </p:sp>
      <p:sp>
        <p:nvSpPr>
          <p:cNvPr id="7" name="Text 5"/>
          <p:cNvSpPr txBox="1"/>
          <p:nvPr/>
        </p:nvSpPr>
        <p:spPr>
          <a:xfrm>
            <a:off x="457200" y="4297680"/>
            <a:ext cx="8229600" cy="457200"/>
          </a:xfrm>
          <a:prstGeom prst="rect">
            <a:avLst/>
          </a:prstGeom>
          <a:noFill/>
          <a:ln/>
        </p:spPr>
        <p:txBody>
          <a:bodyPr wrap="square" lIns="0" tIns="0" rIns="0" bIns="0" rtlCol="0" anchor="ctr"/>
          <a:lstStyle/>
          <a:p>
            <a:pPr indent="0" marL="0">
              <a:buNone/>
            </a:pPr>
            <a:r>
              <a:rPr lang="en-US" sz="2000" dirty="0">
                <a:solidFill>
                  <a:srgbClr val="05CE78"/>
                </a:solidFill>
                <a:latin typeface="Cambria" pitchFamily="34" charset="0"/>
                <a:ea typeface="Cambria" pitchFamily="34" charset="-122"/>
                <a:cs typeface="Cambria" pitchFamily="34" charset="-120"/>
              </a:rPr>
              <a:t>Thank you.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Kickstarter Success Prediction</dc:title>
  <dc:subject>PptxGenJS Presentation</dc:subject>
  <dc:creator>Aaditya Vijaywargi, Amruta Sai</dc:creator>
  <cp:lastModifiedBy>Aaditya Vijaywargi, Amruta Sai</cp:lastModifiedBy>
  <cp:revision>1</cp:revision>
  <dcterms:created xsi:type="dcterms:W3CDTF">2026-10-01T03:45:50Z</dcterms:created>
  <dcterms:modified xsi:type="dcterms:W3CDTF">2026-10-01T03:45:50Z</dcterms:modified>
</cp:coreProperties>
</file>